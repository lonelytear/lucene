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62" r:id="rId2"/>
    <p:sldId id="267" r:id="rId3"/>
    <p:sldId id="257" r:id="rId4"/>
    <p:sldId id="261" r:id="rId5"/>
    <p:sldId id="256" r:id="rId6"/>
    <p:sldId id="264" r:id="rId7"/>
    <p:sldId id="258" r:id="rId8"/>
    <p:sldId id="266" r:id="rId9"/>
    <p:sldId id="270" r:id="rId10"/>
    <p:sldId id="269" r:id="rId1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E6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-160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8" d="100"/>
          <a:sy n="48" d="100"/>
        </p:scale>
        <p:origin x="-2946" y="-102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3B8E4-7D31-4863-ACA8-4ED3828C263E}" type="datetimeFigureOut">
              <a:rPr lang="zh-CN" altLang="en-US" smtClean="0"/>
              <a:t>2015/11/20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57E6DE-A21D-4EA2-B7F7-7871994EDAD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0296A5-0ACF-4431-8035-6D3CAE39F2DF}" type="datetimeFigureOut">
              <a:rPr lang="zh-CN" altLang="en-US" smtClean="0"/>
              <a:t>2015/11/20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7E0E9-EAFF-49EE-995A-20098F8AE8F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gradFill flip="none" rotWithShape="1">
          <a:gsLst>
            <a:gs pos="0">
              <a:srgbClr val="D5E6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grpSp>
        <p:nvGrpSpPr>
          <p:cNvPr id="7" name="组合 61"/>
          <p:cNvGrpSpPr/>
          <p:nvPr userDrawn="1"/>
        </p:nvGrpSpPr>
        <p:grpSpPr>
          <a:xfrm>
            <a:off x="0" y="0"/>
            <a:ext cx="9143998" cy="461665"/>
            <a:chOff x="928662" y="5143512"/>
            <a:chExt cx="4997883" cy="461665"/>
          </a:xfrm>
        </p:grpSpPr>
        <p:grpSp>
          <p:nvGrpSpPr>
            <p:cNvPr id="8" name="组合 24"/>
            <p:cNvGrpSpPr/>
            <p:nvPr/>
          </p:nvGrpSpPr>
          <p:grpSpPr>
            <a:xfrm>
              <a:off x="928662" y="5143512"/>
              <a:ext cx="4997883" cy="454098"/>
              <a:chOff x="3857620" y="5072074"/>
              <a:chExt cx="4997883" cy="454098"/>
            </a:xfrm>
          </p:grpSpPr>
          <p:sp>
            <p:nvSpPr>
              <p:cNvPr id="11" name="矩形 10"/>
              <p:cNvSpPr/>
              <p:nvPr/>
            </p:nvSpPr>
            <p:spPr>
              <a:xfrm>
                <a:off x="3857620" y="5072074"/>
                <a:ext cx="4995108" cy="454098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24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五边形 11"/>
              <p:cNvSpPr/>
              <p:nvPr/>
            </p:nvSpPr>
            <p:spPr>
              <a:xfrm rot="10800000">
                <a:off x="8442524" y="5084805"/>
                <a:ext cx="412979" cy="428631"/>
              </a:xfrm>
              <a:prstGeom prst="homePlat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sp>
          <p:nvSpPr>
            <p:cNvPr id="9" name="五边形 8"/>
            <p:cNvSpPr/>
            <p:nvPr/>
          </p:nvSpPr>
          <p:spPr>
            <a:xfrm>
              <a:off x="928663" y="5143512"/>
              <a:ext cx="452337" cy="428628"/>
            </a:xfrm>
            <a:prstGeom prst="homePlate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fld id="{2F6CF50B-BCA1-47A6-98D3-2FBA3C0DBE34}" type="slidenum">
                <a:rPr lang="zh-CN" altLang="en-US" sz="3200" b="1" smtClean="0"/>
                <a:t>‹#›</a:t>
              </a:fld>
              <a:endParaRPr lang="zh-CN" altLang="en-US" sz="3200" b="1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000100" y="5143512"/>
              <a:ext cx="2535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aseline="0" smtClean="0">
                  <a:solidFill>
                    <a:schemeClr val="bg1"/>
                  </a:solidFill>
                </a:rPr>
                <a:t> </a:t>
              </a:r>
              <a:endParaRPr lang="zh-CN" altLang="en-US" sz="240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2015/11/20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2015/11/20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2015/11/20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2015/11/20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3789040"/>
            <a:ext cx="7109639" cy="1631216"/>
          </a:xfrm>
          <a:prstGeom prst="rect">
            <a:avLst/>
          </a:prstGeom>
          <a:solidFill>
            <a:schemeClr val="l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>
              <a:rot lat="0" lon="0" rev="900000"/>
            </a:lightRig>
          </a:scene3d>
          <a:sp3d extrusionH="76200" prstMaterial="powder">
            <a:extrusionClr>
              <a:schemeClr val="bg1"/>
            </a:extrusionClr>
          </a:sp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000" smtClean="0"/>
              <a:t>更具体点说</a:t>
            </a:r>
            <a:r>
              <a:rPr lang="zh-CN" altLang="en-US" sz="2000" smtClean="0"/>
              <a:t>类似于给整本书的每个字词添加一个</a:t>
            </a:r>
            <a:r>
              <a:rPr lang="zh-CN" altLang="en-US" sz="2000" smtClean="0"/>
              <a:t>标签</a:t>
            </a:r>
            <a:r>
              <a:rPr lang="zh-CN" altLang="en-US" sz="2000" smtClean="0"/>
              <a:t>，</a:t>
            </a:r>
            <a:endParaRPr lang="en-US" altLang="zh-CN" sz="2000" smtClean="0"/>
          </a:p>
          <a:p>
            <a:r>
              <a:rPr lang="zh-CN" altLang="en-US" sz="2000" smtClean="0"/>
              <a:t>也</a:t>
            </a:r>
            <a:r>
              <a:rPr lang="zh-CN" altLang="en-US" sz="2000" smtClean="0"/>
              <a:t>可以进行各种统计和</a:t>
            </a:r>
            <a:r>
              <a:rPr lang="zh-CN" altLang="en-US" sz="2000" smtClean="0"/>
              <a:t>分析</a:t>
            </a:r>
            <a:r>
              <a:rPr lang="zh-CN" altLang="en-US" sz="2000" smtClean="0"/>
              <a:t>。</a:t>
            </a:r>
            <a:endParaRPr lang="en-US" altLang="zh-CN" sz="2000" smtClean="0"/>
          </a:p>
          <a:p>
            <a:r>
              <a:rPr lang="zh-CN" altLang="en-US" sz="2000" smtClean="0"/>
              <a:t>例如，它</a:t>
            </a:r>
            <a:r>
              <a:rPr lang="zh-CN" altLang="en-US" sz="2000" smtClean="0"/>
              <a:t>可以很快</a:t>
            </a:r>
            <a:r>
              <a:rPr lang="zh-CN" altLang="en-US" sz="2000" smtClean="0"/>
              <a:t>的</a:t>
            </a:r>
            <a:r>
              <a:rPr lang="zh-CN" altLang="en-US" sz="2000" smtClean="0"/>
              <a:t>回答</a:t>
            </a:r>
            <a:endParaRPr lang="en-US" altLang="zh-CN" sz="2000" smtClean="0"/>
          </a:p>
          <a:p>
            <a:r>
              <a:rPr lang="zh-CN" altLang="en-US" sz="2000" smtClean="0"/>
              <a:t>“</a:t>
            </a:r>
            <a:r>
              <a:rPr lang="en-US" altLang="zh-CN" sz="2000" smtClean="0"/>
              <a:t>《</a:t>
            </a:r>
            <a:r>
              <a:rPr lang="zh-CN" altLang="en-US" sz="2000" smtClean="0"/>
              <a:t>红楼梦</a:t>
            </a:r>
            <a:r>
              <a:rPr lang="en-US" altLang="zh-CN" sz="2000" smtClean="0"/>
              <a:t>》</a:t>
            </a:r>
            <a:r>
              <a:rPr lang="zh-CN" altLang="en-US" sz="2000" smtClean="0"/>
              <a:t>一书中“林黛玉”一共出现多少次？”的</a:t>
            </a:r>
            <a:r>
              <a:rPr lang="zh-CN" altLang="en-US" sz="2000" smtClean="0"/>
              <a:t>问题</a:t>
            </a:r>
            <a:r>
              <a:rPr lang="zh-CN" altLang="en-US" sz="2000" smtClean="0"/>
              <a:t>。</a:t>
            </a:r>
            <a:endParaRPr lang="en-US" altLang="zh-CN" sz="2000" smtClean="0"/>
          </a:p>
          <a:p>
            <a:endParaRPr lang="en-US" altLang="zh-CN" sz="2000" smtClean="0"/>
          </a:p>
        </p:txBody>
      </p:sp>
      <p:sp>
        <p:nvSpPr>
          <p:cNvPr id="3" name="TextBox 2"/>
          <p:cNvSpPr txBox="1"/>
          <p:nvPr/>
        </p:nvSpPr>
        <p:spPr>
          <a:xfrm>
            <a:off x="2952978" y="-46548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smtClean="0">
                <a:latin typeface="隶书" pitchFamily="49" charset="-122"/>
                <a:ea typeface="隶书" pitchFamily="49" charset="-122"/>
              </a:rPr>
              <a:t>全文检索定义</a:t>
            </a:r>
            <a:endParaRPr lang="zh-CN" altLang="en-US" sz="280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1520" y="1340768"/>
            <a:ext cx="7848872" cy="1323439"/>
          </a:xfrm>
          <a:prstGeom prst="rect">
            <a:avLst/>
          </a:prstGeom>
          <a:solidFill>
            <a:schemeClr val="l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>
              <a:rot lat="0" lon="0" rev="900000"/>
            </a:lightRig>
          </a:scene3d>
          <a:sp3d extrusionH="76200" prstMaterial="powder">
            <a:extrusionClr>
              <a:schemeClr val="bg1"/>
            </a:extrusionClr>
          </a:sp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smtClean="0"/>
              <a:t>全文检索  是指计算机索引程序通过扫描文章中的每一个词，对每</a:t>
            </a:r>
          </a:p>
          <a:p>
            <a:r>
              <a:rPr lang="zh-CN" altLang="en-US" sz="2000" smtClean="0"/>
              <a:t>一个词建立一个索引，指明该词在文章中出现的次数和位置，当用</a:t>
            </a:r>
          </a:p>
          <a:p>
            <a:r>
              <a:rPr lang="zh-CN" altLang="en-US" sz="2000" smtClean="0"/>
              <a:t>户查询时，检索程序就根据事先建立的索引进行查找，并将查找的</a:t>
            </a:r>
          </a:p>
          <a:p>
            <a:r>
              <a:rPr lang="zh-CN" altLang="en-US" sz="2000" smtClean="0"/>
              <a:t>结果反馈给用户的</a:t>
            </a:r>
            <a:r>
              <a:rPr lang="zh-CN" altLang="en-US" sz="2000" smtClean="0"/>
              <a:t>检索</a:t>
            </a:r>
            <a:r>
              <a:rPr lang="zh-CN" altLang="en-US" sz="2000" smtClean="0"/>
              <a:t>方式。</a:t>
            </a:r>
            <a:endParaRPr lang="zh-CN" altLang="en-US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3789040"/>
            <a:ext cx="7920880" cy="1938992"/>
          </a:xfrm>
          <a:prstGeom prst="rect">
            <a:avLst/>
          </a:prstGeom>
          <a:solidFill>
            <a:schemeClr val="l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>
              <a:rot lat="0" lon="0" rev="900000"/>
            </a:lightRig>
          </a:scene3d>
          <a:sp3d extrusionH="76200" prstMaterial="powder">
            <a:extrusionClr>
              <a:schemeClr val="bg1"/>
            </a:extrusionClr>
          </a:sp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smtClean="0">
                <a:solidFill>
                  <a:srgbClr val="FF0000"/>
                </a:solidFill>
              </a:rPr>
              <a:t>而此时用全文检索对要查询的字段提前做分词</a:t>
            </a:r>
            <a:r>
              <a:rPr lang="zh-CN" altLang="en-US" sz="2000" smtClean="0">
                <a:solidFill>
                  <a:srgbClr val="FF0000"/>
                </a:solidFill>
              </a:rPr>
              <a:t>处理</a:t>
            </a:r>
            <a:r>
              <a:rPr lang="en-US" altLang="zh-CN" sz="2000" smtClean="0">
                <a:solidFill>
                  <a:srgbClr val="FF0000"/>
                </a:solidFill>
              </a:rPr>
              <a:t>,</a:t>
            </a:r>
          </a:p>
          <a:p>
            <a:r>
              <a:rPr lang="zh-CN" altLang="en-US" sz="2000" smtClean="0">
                <a:solidFill>
                  <a:srgbClr val="FF0000"/>
                </a:solidFill>
              </a:rPr>
              <a:t>把</a:t>
            </a:r>
            <a:r>
              <a:rPr lang="zh-CN" altLang="en-US" sz="2000" smtClean="0">
                <a:solidFill>
                  <a:srgbClr val="FF0000"/>
                </a:solidFill>
              </a:rPr>
              <a:t>分好的词作出现频率</a:t>
            </a:r>
            <a:r>
              <a:rPr lang="en-US" altLang="zh-CN" sz="2000" smtClean="0">
                <a:solidFill>
                  <a:srgbClr val="FF0000"/>
                </a:solidFill>
              </a:rPr>
              <a:t>,</a:t>
            </a:r>
            <a:r>
              <a:rPr lang="zh-CN" altLang="en-US" sz="2000" smtClean="0">
                <a:solidFill>
                  <a:srgbClr val="FF0000"/>
                </a:solidFill>
              </a:rPr>
              <a:t>位置等相关</a:t>
            </a:r>
            <a:r>
              <a:rPr lang="zh-CN" altLang="en-US" sz="2000" smtClean="0">
                <a:solidFill>
                  <a:srgbClr val="FF0000"/>
                </a:solidFill>
              </a:rPr>
              <a:t>记录</a:t>
            </a:r>
            <a:r>
              <a:rPr lang="en-US" altLang="zh-CN" sz="2000" smtClean="0">
                <a:solidFill>
                  <a:srgbClr val="FF0000"/>
                </a:solidFill>
              </a:rPr>
              <a:t>,</a:t>
            </a:r>
            <a:endParaRPr lang="en-US" altLang="zh-CN" sz="2000" smtClean="0">
              <a:solidFill>
                <a:srgbClr val="FF0000"/>
              </a:solidFill>
            </a:endParaRPr>
          </a:p>
          <a:p>
            <a:r>
              <a:rPr lang="zh-CN" altLang="en-US" sz="2000" smtClean="0">
                <a:solidFill>
                  <a:srgbClr val="FF0000"/>
                </a:solidFill>
              </a:rPr>
              <a:t>查询效率很有可能是秒级别的</a:t>
            </a:r>
            <a:r>
              <a:rPr lang="en-US" altLang="zh-CN" sz="2000" smtClean="0">
                <a:solidFill>
                  <a:srgbClr val="FF0000"/>
                </a:solidFill>
              </a:rPr>
              <a:t>.</a:t>
            </a:r>
          </a:p>
          <a:p>
            <a:endParaRPr lang="en-US" altLang="zh-CN" sz="2000" smtClean="0">
              <a:solidFill>
                <a:srgbClr val="FF0000"/>
              </a:solidFill>
            </a:endParaRPr>
          </a:p>
          <a:p>
            <a:r>
              <a:rPr lang="en-US" altLang="zh-CN" sz="2000" smtClean="0"/>
              <a:t>lucene</a:t>
            </a:r>
            <a:r>
              <a:rPr lang="zh-CN" altLang="en-US" sz="2000" smtClean="0"/>
              <a:t>就是基于全文检索的</a:t>
            </a:r>
            <a:r>
              <a:rPr lang="en-US" altLang="zh-CN" sz="2000" smtClean="0"/>
              <a:t>java</a:t>
            </a:r>
            <a:r>
              <a:rPr lang="zh-CN" altLang="en-US" sz="2000" smtClean="0"/>
              <a:t>技术之一。</a:t>
            </a:r>
          </a:p>
          <a:p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52978" y="-46548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smtClean="0">
                <a:latin typeface="隶书" pitchFamily="49" charset="-122"/>
                <a:ea typeface="隶书" pitchFamily="49" charset="-122"/>
              </a:rPr>
              <a:t>为什么要使用全文检索</a:t>
            </a:r>
            <a:endParaRPr lang="zh-CN" altLang="en-US" sz="280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1520" y="1340768"/>
            <a:ext cx="7848872" cy="2246769"/>
          </a:xfrm>
          <a:prstGeom prst="rect">
            <a:avLst/>
          </a:prstGeom>
          <a:solidFill>
            <a:schemeClr val="l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>
              <a:rot lat="0" lon="0" rev="900000"/>
            </a:lightRig>
          </a:scene3d>
          <a:sp3d extrusionH="76200" prstMaterial="powder">
            <a:extrusionClr>
              <a:schemeClr val="bg1"/>
            </a:extrusionClr>
          </a:sp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smtClean="0"/>
              <a:t>普通</a:t>
            </a:r>
            <a:r>
              <a:rPr lang="en-US" altLang="zh-CN" sz="2000" smtClean="0"/>
              <a:t>sql</a:t>
            </a:r>
            <a:r>
              <a:rPr lang="zh-CN" altLang="en-US" sz="2000" smtClean="0"/>
              <a:t>查询含有大量的</a:t>
            </a:r>
            <a:r>
              <a:rPr lang="en-US" altLang="zh-CN" sz="2000" smtClean="0"/>
              <a:t>select * from </a:t>
            </a:r>
            <a:r>
              <a:rPr lang="zh-CN" altLang="en-US" sz="2000" smtClean="0"/>
              <a:t>表 </a:t>
            </a:r>
            <a:r>
              <a:rPr lang="en-US" altLang="zh-CN" sz="2000" smtClean="0"/>
              <a:t>like ‘%</a:t>
            </a:r>
            <a:r>
              <a:rPr lang="zh-CN" altLang="en-US" sz="2000" smtClean="0"/>
              <a:t>条件</a:t>
            </a:r>
            <a:r>
              <a:rPr lang="en-US" altLang="zh-CN" sz="2000" smtClean="0"/>
              <a:t>1%’  and  ‘%</a:t>
            </a:r>
            <a:r>
              <a:rPr lang="zh-CN" altLang="en-US" sz="2000" smtClean="0"/>
              <a:t>条件</a:t>
            </a:r>
            <a:r>
              <a:rPr lang="en-US" altLang="zh-CN" sz="2000" smtClean="0"/>
              <a:t>2%’ </a:t>
            </a:r>
            <a:r>
              <a:rPr lang="en-US" altLang="zh-CN" sz="2000" smtClean="0"/>
              <a:t>and  </a:t>
            </a:r>
            <a:r>
              <a:rPr lang="en-US" altLang="zh-CN" sz="2000" smtClean="0"/>
              <a:t>‘%</a:t>
            </a:r>
            <a:r>
              <a:rPr lang="zh-CN" altLang="en-US" sz="2000" smtClean="0"/>
              <a:t>条件</a:t>
            </a:r>
            <a:r>
              <a:rPr lang="en-US" altLang="zh-CN" sz="2000" smtClean="0"/>
              <a:t>3%’ and  </a:t>
            </a:r>
            <a:r>
              <a:rPr lang="en-US" altLang="zh-CN" sz="2000" smtClean="0"/>
              <a:t>‘%</a:t>
            </a:r>
            <a:r>
              <a:rPr lang="zh-CN" altLang="en-US" sz="2000" smtClean="0"/>
              <a:t>条件</a:t>
            </a:r>
            <a:r>
              <a:rPr lang="en-US" altLang="zh-CN" sz="2000" smtClean="0"/>
              <a:t>4%’ ………………………….</a:t>
            </a:r>
          </a:p>
          <a:p>
            <a:endParaRPr lang="en-US" altLang="zh-CN" sz="2000" smtClean="0"/>
          </a:p>
          <a:p>
            <a:r>
              <a:rPr lang="zh-CN" altLang="en-US" sz="2000" smtClean="0"/>
              <a:t>当</a:t>
            </a:r>
            <a:r>
              <a:rPr lang="en-US" altLang="zh-CN" sz="2000" smtClean="0"/>
              <a:t>like</a:t>
            </a:r>
            <a:r>
              <a:rPr lang="zh-CN" altLang="en-US" sz="2000" smtClean="0"/>
              <a:t>数量达到几十个甚至</a:t>
            </a:r>
            <a:r>
              <a:rPr lang="en-US" altLang="zh-CN" sz="2000" smtClean="0"/>
              <a:t>100</a:t>
            </a:r>
            <a:r>
              <a:rPr lang="zh-CN" altLang="en-US" sz="2000" smtClean="0"/>
              <a:t>来个的时候</a:t>
            </a:r>
            <a:r>
              <a:rPr lang="en-US" altLang="zh-CN" sz="2000" smtClean="0"/>
              <a:t>,</a:t>
            </a:r>
            <a:r>
              <a:rPr lang="zh-CN" altLang="en-US" sz="2000" smtClean="0"/>
              <a:t>就算都创建了</a:t>
            </a:r>
            <a:r>
              <a:rPr lang="en-US" altLang="zh-CN" sz="2000" smtClean="0"/>
              <a:t>index</a:t>
            </a:r>
            <a:r>
              <a:rPr lang="zh-CN" altLang="en-US" sz="2000" smtClean="0"/>
              <a:t>索引</a:t>
            </a:r>
            <a:r>
              <a:rPr lang="en-US" altLang="zh-CN" sz="2000" smtClean="0"/>
              <a:t>,</a:t>
            </a:r>
            <a:r>
              <a:rPr lang="zh-CN" altLang="en-US" sz="2000" smtClean="0"/>
              <a:t>由于</a:t>
            </a:r>
            <a:r>
              <a:rPr lang="en-US" altLang="zh-CN" sz="2000" smtClean="0">
                <a:solidFill>
                  <a:srgbClr val="FF0000"/>
                </a:solidFill>
              </a:rPr>
              <a:t>like</a:t>
            </a:r>
            <a:r>
              <a:rPr lang="zh-CN" altLang="en-US" sz="2000" smtClean="0">
                <a:solidFill>
                  <a:srgbClr val="FF0000"/>
                </a:solidFill>
              </a:rPr>
              <a:t>条件过多</a:t>
            </a:r>
            <a:r>
              <a:rPr lang="en-US" altLang="zh-CN" sz="2000" smtClean="0"/>
              <a:t>,</a:t>
            </a:r>
            <a:r>
              <a:rPr lang="zh-CN" altLang="en-US" sz="2000" smtClean="0"/>
              <a:t>当数据量达百万级别时</a:t>
            </a:r>
            <a:r>
              <a:rPr lang="en-US" altLang="zh-CN" sz="2000" smtClean="0"/>
              <a:t>, </a:t>
            </a:r>
            <a:r>
              <a:rPr lang="zh-CN" altLang="en-US" sz="2000" smtClean="0"/>
              <a:t>很有可能要</a:t>
            </a:r>
            <a:r>
              <a:rPr lang="zh-CN" altLang="en-US" sz="2000" smtClean="0">
                <a:solidFill>
                  <a:srgbClr val="FF0000"/>
                </a:solidFill>
              </a:rPr>
              <a:t>花费几分钟</a:t>
            </a:r>
            <a:r>
              <a:rPr lang="zh-CN" altLang="en-US" sz="2000" smtClean="0"/>
              <a:t>或者</a:t>
            </a:r>
            <a:r>
              <a:rPr lang="zh-CN" altLang="en-US" sz="2000" smtClean="0">
                <a:solidFill>
                  <a:srgbClr val="FF0000"/>
                </a:solidFill>
              </a:rPr>
              <a:t>根本查不动</a:t>
            </a:r>
            <a:r>
              <a:rPr lang="en-US" altLang="zh-CN" sz="2000" smtClean="0">
                <a:solidFill>
                  <a:srgbClr val="FF0000"/>
                </a:solidFill>
              </a:rPr>
              <a:t>.</a:t>
            </a:r>
          </a:p>
          <a:p>
            <a:endParaRPr lang="en-US" altLang="zh-CN" sz="200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390" y="2204864"/>
            <a:ext cx="9187130" cy="3231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smtClean="0"/>
              <a:t>第一</a:t>
            </a:r>
            <a:r>
              <a:rPr lang="zh-CN" altLang="en-US" sz="2000" b="1" smtClean="0"/>
              <a:t>个</a:t>
            </a:r>
            <a:r>
              <a:rPr lang="en-US" altLang="zh-CN" smtClean="0"/>
              <a:t>:</a:t>
            </a:r>
            <a:r>
              <a:rPr lang="en-US" altLang="zh-CN" b="1" smtClean="0"/>
              <a:t>Lucene-core-4.0.0.jar</a:t>
            </a:r>
            <a:r>
              <a:rPr lang="en-US" altLang="zh-CN" smtClean="0"/>
              <a:t>,</a:t>
            </a:r>
          </a:p>
          <a:p>
            <a:r>
              <a:rPr lang="en-US" altLang="zh-CN" smtClean="0"/>
              <a:t>	</a:t>
            </a:r>
            <a:r>
              <a:rPr lang="zh-CN" altLang="en-US" smtClean="0"/>
              <a:t>其中</a:t>
            </a:r>
            <a:r>
              <a:rPr lang="zh-CN" altLang="en-US" smtClean="0"/>
              <a:t>包括了常用的文档，索引，搜索，存储等相关核心代码。</a:t>
            </a:r>
          </a:p>
          <a:p>
            <a:r>
              <a:rPr lang="zh-CN" altLang="en-US" sz="2000" b="1" smtClean="0"/>
              <a:t>第二个</a:t>
            </a:r>
            <a:r>
              <a:rPr lang="en-US" altLang="zh-CN" smtClean="0"/>
              <a:t>:</a:t>
            </a:r>
            <a:r>
              <a:rPr lang="en-US" altLang="zh-CN" b="1" smtClean="0"/>
              <a:t>Lucene-analyzers-common-4.0.0.jar</a:t>
            </a:r>
            <a:r>
              <a:rPr lang="zh-CN" altLang="en-US" smtClean="0"/>
              <a:t>，</a:t>
            </a:r>
            <a:endParaRPr lang="en-US" altLang="zh-CN" smtClean="0"/>
          </a:p>
          <a:p>
            <a:r>
              <a:rPr lang="en-US" altLang="zh-CN" smtClean="0"/>
              <a:t>	</a:t>
            </a:r>
            <a:r>
              <a:rPr lang="zh-CN" altLang="en-US" smtClean="0"/>
              <a:t>这</a:t>
            </a:r>
            <a:r>
              <a:rPr lang="zh-CN" altLang="en-US" smtClean="0"/>
              <a:t>里面包含了各种语言的词法分析器，用于对文件内容进行关键字切分，提取。</a:t>
            </a:r>
          </a:p>
          <a:p>
            <a:r>
              <a:rPr lang="zh-CN" altLang="en-US" sz="2000" b="1" smtClean="0"/>
              <a:t>第三个</a:t>
            </a:r>
            <a:r>
              <a:rPr lang="en-US" altLang="zh-CN" smtClean="0"/>
              <a:t>:</a:t>
            </a:r>
            <a:r>
              <a:rPr lang="en-US" altLang="zh-CN" b="1" smtClean="0"/>
              <a:t>Lucene-highlighter-4.0.0.jar</a:t>
            </a:r>
            <a:r>
              <a:rPr lang="zh-CN" altLang="en-US" smtClean="0"/>
              <a:t>，</a:t>
            </a:r>
            <a:endParaRPr lang="en-US" altLang="zh-CN" smtClean="0"/>
          </a:p>
          <a:p>
            <a:r>
              <a:rPr lang="en-US" altLang="zh-CN" smtClean="0"/>
              <a:t>	</a:t>
            </a:r>
            <a:r>
              <a:rPr lang="zh-CN" altLang="en-US" smtClean="0"/>
              <a:t>这个</a:t>
            </a:r>
            <a:r>
              <a:rPr lang="en-US" altLang="zh-CN" smtClean="0"/>
              <a:t>jar</a:t>
            </a:r>
            <a:r>
              <a:rPr lang="zh-CN" altLang="en-US" smtClean="0"/>
              <a:t>包主要用于搜索出的内容高亮显示。</a:t>
            </a:r>
          </a:p>
          <a:p>
            <a:r>
              <a:rPr lang="zh-CN" altLang="en-US" sz="2000" b="1" smtClean="0"/>
              <a:t>第四</a:t>
            </a:r>
            <a:r>
              <a:rPr lang="zh-CN" altLang="en-US" sz="2000" b="1" smtClean="0"/>
              <a:t>个和</a:t>
            </a:r>
            <a:r>
              <a:rPr lang="zh-CN" altLang="en-US" sz="2000" b="1" smtClean="0"/>
              <a:t>第五</a:t>
            </a:r>
            <a:r>
              <a:rPr lang="zh-CN" altLang="en-US" sz="2000" b="1" smtClean="0"/>
              <a:t>个</a:t>
            </a:r>
            <a:r>
              <a:rPr lang="en-US" altLang="zh-CN" smtClean="0"/>
              <a:t>:</a:t>
            </a:r>
            <a:endParaRPr lang="en-US" altLang="zh-CN" smtClean="0"/>
          </a:p>
          <a:p>
            <a:r>
              <a:rPr lang="en-US" altLang="zh-CN" smtClean="0"/>
              <a:t>	</a:t>
            </a:r>
            <a:r>
              <a:rPr lang="en-US" altLang="zh-CN" b="1" smtClean="0"/>
              <a:t>lucene-queries-4.0.0.jar </a:t>
            </a:r>
            <a:r>
              <a:rPr lang="zh-CN" altLang="en-US" b="1" smtClean="0"/>
              <a:t>和 </a:t>
            </a:r>
            <a:r>
              <a:rPr lang="en-US" altLang="zh-CN" b="1" smtClean="0"/>
              <a:t>Lucene-queryparser-4.0.0.jar</a:t>
            </a:r>
            <a:r>
              <a:rPr lang="zh-CN" altLang="en-US" smtClean="0"/>
              <a:t>，</a:t>
            </a:r>
            <a:endParaRPr lang="en-US" altLang="zh-CN" smtClean="0"/>
          </a:p>
          <a:p>
            <a:r>
              <a:rPr lang="en-US" altLang="zh-CN" smtClean="0"/>
              <a:t>	</a:t>
            </a:r>
            <a:r>
              <a:rPr lang="zh-CN" altLang="en-US" smtClean="0"/>
              <a:t>提供</a:t>
            </a:r>
            <a:r>
              <a:rPr lang="zh-CN" altLang="en-US" smtClean="0"/>
              <a:t>了搜索相关的代码，用于各种</a:t>
            </a:r>
            <a:r>
              <a:rPr lang="zh-CN" altLang="en-US" smtClean="0"/>
              <a:t>搜索</a:t>
            </a:r>
            <a:r>
              <a:rPr lang="zh-CN" altLang="en-US" smtClean="0"/>
              <a:t>，</a:t>
            </a:r>
            <a:endParaRPr lang="en-US" altLang="zh-CN" smtClean="0"/>
          </a:p>
          <a:p>
            <a:r>
              <a:rPr lang="en-US" altLang="zh-CN" smtClean="0"/>
              <a:t>	</a:t>
            </a:r>
            <a:r>
              <a:rPr lang="zh-CN" altLang="en-US" smtClean="0"/>
              <a:t>比如</a:t>
            </a:r>
            <a:r>
              <a:rPr lang="zh-CN" altLang="en-US" smtClean="0"/>
              <a:t>模糊搜索，范围搜索，等等。</a:t>
            </a:r>
          </a:p>
          <a:p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952978" y="-46548"/>
            <a:ext cx="28777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smtClean="0">
                <a:latin typeface="隶书" pitchFamily="49" charset="-122"/>
                <a:ea typeface="隶书" pitchFamily="49" charset="-122"/>
              </a:rPr>
              <a:t>lucene</a:t>
            </a:r>
            <a:r>
              <a:rPr lang="zh-CN" altLang="en-US" sz="2800" smtClean="0">
                <a:latin typeface="隶书" pitchFamily="49" charset="-122"/>
                <a:ea typeface="隶书" pitchFamily="49" charset="-122"/>
              </a:rPr>
              <a:t>所需</a:t>
            </a:r>
            <a:r>
              <a:rPr lang="en-US" altLang="zh-CN" sz="2800" smtClean="0">
                <a:latin typeface="隶书" pitchFamily="49" charset="-122"/>
                <a:ea typeface="隶书" pitchFamily="49" charset="-122"/>
              </a:rPr>
              <a:t>jar</a:t>
            </a:r>
            <a:r>
              <a:rPr lang="zh-CN" altLang="en-US" sz="2800" smtClean="0">
                <a:latin typeface="隶书" pitchFamily="49" charset="-122"/>
                <a:ea typeface="隶书" pitchFamily="49" charset="-122"/>
              </a:rPr>
              <a:t>包</a:t>
            </a:r>
            <a:endParaRPr lang="zh-CN" altLang="en-US" sz="280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3568" y="1124744"/>
            <a:ext cx="5616624" cy="400110"/>
          </a:xfrm>
          <a:prstGeom prst="rect">
            <a:avLst/>
          </a:prstGeom>
          <a:solidFill>
            <a:schemeClr val="l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>
              <a:rot lat="0" lon="0" rev="900000"/>
            </a:lightRig>
          </a:scene3d>
          <a:sp3d extrusionH="76200" prstMaterial="powder">
            <a:extrusionClr>
              <a:schemeClr val="bg1"/>
            </a:extrusionClr>
          </a:sp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smtClean="0"/>
              <a:t>lucene</a:t>
            </a:r>
            <a:r>
              <a:rPr lang="zh-CN" altLang="en-US" sz="2000" smtClean="0"/>
              <a:t>就是基于全文检索的</a:t>
            </a:r>
            <a:r>
              <a:rPr lang="en-US" altLang="zh-CN" sz="2000" smtClean="0"/>
              <a:t>java</a:t>
            </a:r>
            <a:r>
              <a:rPr lang="zh-CN" altLang="en-US" sz="2000" smtClean="0"/>
              <a:t>技术</a:t>
            </a:r>
            <a:r>
              <a:rPr lang="zh-CN" altLang="en-US" sz="2000" smtClean="0"/>
              <a:t>之一</a:t>
            </a:r>
            <a:r>
              <a:rPr lang="zh-CN" altLang="en-US" sz="2000" smtClean="0"/>
              <a:t>。</a:t>
            </a:r>
            <a:endParaRPr lang="en-US" altLang="zh-CN" sz="200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磁盘 1"/>
          <p:cNvSpPr/>
          <p:nvPr/>
        </p:nvSpPr>
        <p:spPr>
          <a:xfrm>
            <a:off x="899592" y="5085184"/>
            <a:ext cx="1944216" cy="1368152"/>
          </a:xfrm>
          <a:prstGeom prst="flowChartMagneticDisk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b="1" smtClean="0"/>
              <a:t>磁盘</a:t>
            </a:r>
            <a:endParaRPr lang="zh-CN" altLang="en-US" sz="2400" b="1"/>
          </a:p>
        </p:txBody>
      </p:sp>
      <p:cxnSp>
        <p:nvCxnSpPr>
          <p:cNvPr id="4" name="直接连接符 3"/>
          <p:cNvCxnSpPr/>
          <p:nvPr/>
        </p:nvCxnSpPr>
        <p:spPr>
          <a:xfrm>
            <a:off x="3995936" y="836712"/>
            <a:ext cx="0" cy="5256584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sp>
        <p:nvSpPr>
          <p:cNvPr id="9" name="剪去单角的矩形 8"/>
          <p:cNvSpPr/>
          <p:nvPr/>
        </p:nvSpPr>
        <p:spPr>
          <a:xfrm>
            <a:off x="4572000" y="1268760"/>
            <a:ext cx="4320480" cy="3456384"/>
          </a:xfrm>
          <a:prstGeom prst="snip1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zh-CN" altLang="en-US" smtClean="0"/>
              <a:t>外围查询界面</a:t>
            </a:r>
            <a:r>
              <a:rPr lang="en-US" altLang="zh-CN" smtClean="0"/>
              <a:t>B</a:t>
            </a:r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2952978" y="-46548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smtClean="0">
                <a:latin typeface="隶书" pitchFamily="49" charset="-122"/>
                <a:ea typeface="隶书" pitchFamily="49" charset="-122"/>
              </a:rPr>
              <a:t>lucene</a:t>
            </a:r>
            <a:r>
              <a:rPr lang="zh-CN" altLang="en-US" sz="2800" smtClean="0">
                <a:latin typeface="隶书" pitchFamily="49" charset="-122"/>
                <a:ea typeface="隶书" pitchFamily="49" charset="-122"/>
              </a:rPr>
              <a:t>全文检索流程</a:t>
            </a:r>
            <a:endParaRPr lang="zh-CN" altLang="en-US" sz="2800">
              <a:latin typeface="隶书" pitchFamily="49" charset="-122"/>
              <a:ea typeface="隶书" pitchFamily="49" charset="-122"/>
            </a:endParaRPr>
          </a:p>
        </p:txBody>
      </p:sp>
      <p:cxnSp>
        <p:nvCxnSpPr>
          <p:cNvPr id="27" name="直接箭头连接符 26"/>
          <p:cNvCxnSpPr/>
          <p:nvPr/>
        </p:nvCxnSpPr>
        <p:spPr>
          <a:xfrm flipH="1">
            <a:off x="2411760" y="4221088"/>
            <a:ext cx="72008" cy="936104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>
            <a:off x="1187624" y="3645024"/>
            <a:ext cx="216024" cy="151216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流程图: 磁盘 35"/>
          <p:cNvSpPr/>
          <p:nvPr/>
        </p:nvSpPr>
        <p:spPr>
          <a:xfrm>
            <a:off x="179512" y="764704"/>
            <a:ext cx="1440160" cy="792088"/>
          </a:xfrm>
          <a:prstGeom prst="flowChartMagneticDisk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b="1" smtClean="0"/>
              <a:t>数据库</a:t>
            </a:r>
            <a:endParaRPr lang="zh-CN" altLang="en-US" sz="2400" b="1"/>
          </a:p>
        </p:txBody>
      </p:sp>
      <p:sp>
        <p:nvSpPr>
          <p:cNvPr id="37" name="流程图: 磁盘 36"/>
          <p:cNvSpPr/>
          <p:nvPr/>
        </p:nvSpPr>
        <p:spPr>
          <a:xfrm>
            <a:off x="1475656" y="548680"/>
            <a:ext cx="1440160" cy="792088"/>
          </a:xfrm>
          <a:prstGeom prst="flowChartMagneticDisk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b="1" smtClean="0"/>
              <a:t>其它磁盘</a:t>
            </a:r>
            <a:endParaRPr lang="zh-CN" altLang="en-US" sz="2400" b="1"/>
          </a:p>
        </p:txBody>
      </p:sp>
      <p:sp>
        <p:nvSpPr>
          <p:cNvPr id="38" name="平行四边形 37"/>
          <p:cNvSpPr/>
          <p:nvPr/>
        </p:nvSpPr>
        <p:spPr>
          <a:xfrm>
            <a:off x="2555776" y="1052736"/>
            <a:ext cx="1224136" cy="720080"/>
          </a:xfrm>
          <a:prstGeom prst="parallelogram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b="1" smtClean="0">
                <a:solidFill>
                  <a:schemeClr val="dk1"/>
                </a:solidFill>
              </a:rPr>
              <a:t>网络</a:t>
            </a:r>
          </a:p>
        </p:txBody>
      </p:sp>
      <p:grpSp>
        <p:nvGrpSpPr>
          <p:cNvPr id="45" name="组合 44"/>
          <p:cNvGrpSpPr/>
          <p:nvPr/>
        </p:nvGrpSpPr>
        <p:grpSpPr>
          <a:xfrm>
            <a:off x="755576" y="2492896"/>
            <a:ext cx="2376264" cy="1728192"/>
            <a:chOff x="827584" y="2708920"/>
            <a:chExt cx="2376264" cy="1728192"/>
          </a:xfrm>
        </p:grpSpPr>
        <p:sp>
          <p:nvSpPr>
            <p:cNvPr id="10" name="剪去单角的矩形 9"/>
            <p:cNvSpPr/>
            <p:nvPr/>
          </p:nvSpPr>
          <p:spPr>
            <a:xfrm>
              <a:off x="827584" y="2708920"/>
              <a:ext cx="2376264" cy="1728192"/>
            </a:xfrm>
            <a:prstGeom prst="snip1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altLang="zh-CN" smtClean="0"/>
            </a:p>
            <a:p>
              <a:pPr algn="ctr"/>
              <a:r>
                <a:rPr lang="en-US" altLang="zh-CN" smtClean="0"/>
                <a:t>lucene</a:t>
              </a:r>
              <a:r>
                <a:rPr lang="zh-CN" altLang="en-US" smtClean="0"/>
                <a:t>检索系统</a:t>
              </a:r>
              <a:r>
                <a:rPr lang="en-US" altLang="zh-CN" smtClean="0"/>
                <a:t>A</a:t>
              </a:r>
              <a:endParaRPr lang="zh-CN" altLang="en-US" smtClean="0"/>
            </a:p>
          </p:txBody>
        </p:sp>
        <p:sp>
          <p:nvSpPr>
            <p:cNvPr id="44" name="十字形 43"/>
            <p:cNvSpPr/>
            <p:nvPr/>
          </p:nvSpPr>
          <p:spPr>
            <a:xfrm>
              <a:off x="1259632" y="2787622"/>
              <a:ext cx="1440160" cy="720080"/>
            </a:xfrm>
            <a:prstGeom prst="plus">
              <a:avLst>
                <a:gd name="adj" fmla="val 41496"/>
              </a:avLst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mtClean="0">
                  <a:solidFill>
                    <a:schemeClr val="dk1"/>
                  </a:solidFill>
                </a:rPr>
                <a:t>收集</a:t>
              </a:r>
              <a:endParaRPr lang="en-US" altLang="zh-CN" smtClean="0">
                <a:solidFill>
                  <a:schemeClr val="dk1"/>
                </a:solidFill>
              </a:endParaRPr>
            </a:p>
            <a:p>
              <a:pPr algn="ctr"/>
              <a:r>
                <a:rPr lang="zh-CN" altLang="en-US" smtClean="0">
                  <a:solidFill>
                    <a:schemeClr val="dk1"/>
                  </a:solidFill>
                </a:rPr>
                <a:t>信息</a:t>
              </a:r>
            </a:p>
          </p:txBody>
        </p:sp>
      </p:grpSp>
      <p:cxnSp>
        <p:nvCxnSpPr>
          <p:cNvPr id="47" name="直接箭头连接符 46"/>
          <p:cNvCxnSpPr>
            <a:stCxn id="37" idx="3"/>
            <a:endCxn id="44" idx="0"/>
          </p:cNvCxnSpPr>
          <p:nvPr/>
        </p:nvCxnSpPr>
        <p:spPr>
          <a:xfrm flipH="1">
            <a:off x="1907704" y="1340768"/>
            <a:ext cx="288032" cy="12308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>
            <a:stCxn id="38" idx="3"/>
            <a:endCxn id="44" idx="0"/>
          </p:cNvCxnSpPr>
          <p:nvPr/>
        </p:nvCxnSpPr>
        <p:spPr>
          <a:xfrm flipH="1">
            <a:off x="1907704" y="1772816"/>
            <a:ext cx="1170130" cy="79878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>
            <a:stCxn id="36" idx="3"/>
            <a:endCxn id="44" idx="0"/>
          </p:cNvCxnSpPr>
          <p:nvPr/>
        </p:nvCxnSpPr>
        <p:spPr>
          <a:xfrm>
            <a:off x="899592" y="1556792"/>
            <a:ext cx="1008112" cy="101480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4932040" y="2276872"/>
            <a:ext cx="3816424" cy="216024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/>
          <p:cNvSpPr/>
          <p:nvPr/>
        </p:nvSpPr>
        <p:spPr>
          <a:xfrm>
            <a:off x="5292080" y="2492896"/>
            <a:ext cx="1368152" cy="36004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ShanHai</a:t>
            </a:r>
            <a:endParaRPr lang="zh-CN" altLang="en-US"/>
          </a:p>
        </p:txBody>
      </p:sp>
      <p:graphicFrame>
        <p:nvGraphicFramePr>
          <p:cNvPr id="59" name="表格 58"/>
          <p:cNvGraphicFramePr>
            <a:graphicFrameLocks noGrp="1"/>
          </p:cNvGraphicFramePr>
          <p:nvPr/>
        </p:nvGraphicFramePr>
        <p:xfrm>
          <a:off x="5148064" y="3129528"/>
          <a:ext cx="338437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4376"/>
              </a:tblGrid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mtClean="0"/>
                        <a:t>内容</a:t>
                      </a:r>
                      <a:endParaRPr lang="zh-CN" altLang="en-US"/>
                    </a:p>
                  </a:txBody>
                  <a:tcPr/>
                </a:tc>
              </a:tr>
              <a:tr h="360040">
                <a:tc>
                  <a:txBody>
                    <a:bodyPr/>
                    <a:lstStyle/>
                    <a:p>
                      <a:r>
                        <a:rPr lang="en-US" altLang="zh-CN" smtClean="0"/>
                        <a:t>He once lived in Shanhai.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0" name="椭圆 59"/>
          <p:cNvSpPr/>
          <p:nvPr/>
        </p:nvSpPr>
        <p:spPr>
          <a:xfrm>
            <a:off x="6804248" y="2420888"/>
            <a:ext cx="1008112" cy="43204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mtClean="0"/>
              <a:t>查询</a:t>
            </a:r>
            <a:endParaRPr lang="zh-CN" altLang="en-US"/>
          </a:p>
        </p:txBody>
      </p:sp>
      <p:cxnSp>
        <p:nvCxnSpPr>
          <p:cNvPr id="62" name="形状 61"/>
          <p:cNvCxnSpPr>
            <a:stCxn id="60" idx="0"/>
          </p:cNvCxnSpPr>
          <p:nvPr/>
        </p:nvCxnSpPr>
        <p:spPr>
          <a:xfrm rot="16200000" flipH="1" flipV="1">
            <a:off x="4968044" y="584684"/>
            <a:ext cx="504056" cy="4176464"/>
          </a:xfrm>
          <a:prstGeom prst="bentConnector4">
            <a:avLst>
              <a:gd name="adj1" fmla="val -74507"/>
              <a:gd name="adj2" fmla="val 65417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/>
        </p:nvCxnSpPr>
        <p:spPr>
          <a:xfrm>
            <a:off x="3131840" y="3356992"/>
            <a:ext cx="208823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椭圆形标注 70"/>
          <p:cNvSpPr/>
          <p:nvPr/>
        </p:nvSpPr>
        <p:spPr>
          <a:xfrm>
            <a:off x="2051720" y="1844824"/>
            <a:ext cx="360040" cy="360040"/>
          </a:xfrm>
          <a:prstGeom prst="wedgeEllipseCallout">
            <a:avLst>
              <a:gd name="adj1" fmla="val -34439"/>
              <a:gd name="adj2" fmla="val 89711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1</a:t>
            </a:r>
            <a:endParaRPr lang="zh-CN" altLang="en-US"/>
          </a:p>
        </p:txBody>
      </p:sp>
      <p:sp>
        <p:nvSpPr>
          <p:cNvPr id="72" name="椭圆形标注 71"/>
          <p:cNvSpPr/>
          <p:nvPr/>
        </p:nvSpPr>
        <p:spPr>
          <a:xfrm>
            <a:off x="1187624" y="3717032"/>
            <a:ext cx="360040" cy="360040"/>
          </a:xfrm>
          <a:prstGeom prst="wedgeEllipseCallout">
            <a:avLst>
              <a:gd name="adj1" fmla="val -34439"/>
              <a:gd name="adj2" fmla="val 89711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2</a:t>
            </a:r>
            <a:endParaRPr lang="zh-CN" altLang="en-US"/>
          </a:p>
        </p:txBody>
      </p:sp>
      <p:sp>
        <p:nvSpPr>
          <p:cNvPr id="75" name="椭圆形标注 74"/>
          <p:cNvSpPr/>
          <p:nvPr/>
        </p:nvSpPr>
        <p:spPr>
          <a:xfrm>
            <a:off x="4932040" y="1556792"/>
            <a:ext cx="360040" cy="360040"/>
          </a:xfrm>
          <a:prstGeom prst="wedgeEllipseCallout">
            <a:avLst>
              <a:gd name="adj1" fmla="val -34439"/>
              <a:gd name="adj2" fmla="val 89711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3</a:t>
            </a:r>
            <a:endParaRPr lang="zh-CN" altLang="en-US"/>
          </a:p>
        </p:txBody>
      </p:sp>
      <p:sp>
        <p:nvSpPr>
          <p:cNvPr id="76" name="椭圆形标注 75"/>
          <p:cNvSpPr/>
          <p:nvPr/>
        </p:nvSpPr>
        <p:spPr>
          <a:xfrm>
            <a:off x="2555776" y="4293096"/>
            <a:ext cx="360040" cy="360040"/>
          </a:xfrm>
          <a:prstGeom prst="wedgeEllipseCallout">
            <a:avLst>
              <a:gd name="adj1" fmla="val -34439"/>
              <a:gd name="adj2" fmla="val 89711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4</a:t>
            </a:r>
            <a:endParaRPr lang="zh-CN" altLang="en-US"/>
          </a:p>
        </p:txBody>
      </p:sp>
      <p:sp>
        <p:nvSpPr>
          <p:cNvPr id="77" name="椭圆形标注 76"/>
          <p:cNvSpPr/>
          <p:nvPr/>
        </p:nvSpPr>
        <p:spPr>
          <a:xfrm>
            <a:off x="4067944" y="2996952"/>
            <a:ext cx="360040" cy="360040"/>
          </a:xfrm>
          <a:prstGeom prst="wedgeEllipseCallout">
            <a:avLst>
              <a:gd name="adj1" fmla="val -34439"/>
              <a:gd name="adj2" fmla="val 89711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5</a:t>
            </a:r>
            <a:endParaRPr lang="zh-CN" altLang="en-US"/>
          </a:p>
        </p:txBody>
      </p:sp>
      <p:sp>
        <p:nvSpPr>
          <p:cNvPr id="78" name="椭圆形标注 77"/>
          <p:cNvSpPr/>
          <p:nvPr/>
        </p:nvSpPr>
        <p:spPr>
          <a:xfrm>
            <a:off x="4823520" y="5291916"/>
            <a:ext cx="360040" cy="360040"/>
          </a:xfrm>
          <a:prstGeom prst="wedgeEllipseCallout">
            <a:avLst>
              <a:gd name="adj1" fmla="val -34439"/>
              <a:gd name="adj2" fmla="val 89711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1</a:t>
            </a:r>
            <a:endParaRPr lang="zh-CN" altLang="en-US"/>
          </a:p>
        </p:txBody>
      </p:sp>
      <p:sp>
        <p:nvSpPr>
          <p:cNvPr id="81" name="椭圆形标注 80"/>
          <p:cNvSpPr/>
          <p:nvPr/>
        </p:nvSpPr>
        <p:spPr>
          <a:xfrm>
            <a:off x="5714492" y="5291916"/>
            <a:ext cx="360040" cy="360040"/>
          </a:xfrm>
          <a:prstGeom prst="wedgeEllipseCallout">
            <a:avLst>
              <a:gd name="adj1" fmla="val -34439"/>
              <a:gd name="adj2" fmla="val 89711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2</a:t>
            </a:r>
            <a:endParaRPr lang="zh-CN" altLang="en-US"/>
          </a:p>
        </p:txBody>
      </p:sp>
      <p:sp>
        <p:nvSpPr>
          <p:cNvPr id="84" name="椭圆形标注 83"/>
          <p:cNvSpPr/>
          <p:nvPr/>
        </p:nvSpPr>
        <p:spPr>
          <a:xfrm>
            <a:off x="6605464" y="5291916"/>
            <a:ext cx="360040" cy="360040"/>
          </a:xfrm>
          <a:prstGeom prst="wedgeEllipseCallout">
            <a:avLst>
              <a:gd name="adj1" fmla="val -34439"/>
              <a:gd name="adj2" fmla="val 89711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3</a:t>
            </a:r>
            <a:endParaRPr lang="zh-CN" altLang="en-US"/>
          </a:p>
        </p:txBody>
      </p:sp>
      <p:sp>
        <p:nvSpPr>
          <p:cNvPr id="85" name="椭圆形标注 84"/>
          <p:cNvSpPr/>
          <p:nvPr/>
        </p:nvSpPr>
        <p:spPr>
          <a:xfrm>
            <a:off x="7496436" y="5291916"/>
            <a:ext cx="360040" cy="360040"/>
          </a:xfrm>
          <a:prstGeom prst="wedgeEllipseCallout">
            <a:avLst>
              <a:gd name="adj1" fmla="val -34439"/>
              <a:gd name="adj2" fmla="val 89711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4</a:t>
            </a:r>
            <a:endParaRPr lang="zh-CN" altLang="en-US"/>
          </a:p>
        </p:txBody>
      </p:sp>
      <p:sp>
        <p:nvSpPr>
          <p:cNvPr id="86" name="椭圆形标注 85"/>
          <p:cNvSpPr/>
          <p:nvPr/>
        </p:nvSpPr>
        <p:spPr>
          <a:xfrm>
            <a:off x="8387408" y="5291916"/>
            <a:ext cx="360040" cy="360040"/>
          </a:xfrm>
          <a:prstGeom prst="wedgeEllipseCallout">
            <a:avLst>
              <a:gd name="adj1" fmla="val -34439"/>
              <a:gd name="adj2" fmla="val 89711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5</a:t>
            </a:r>
            <a:endParaRPr lang="zh-CN" altLang="en-US"/>
          </a:p>
        </p:txBody>
      </p:sp>
      <p:sp>
        <p:nvSpPr>
          <p:cNvPr id="87" name="TextBox 86"/>
          <p:cNvSpPr txBox="1"/>
          <p:nvPr/>
        </p:nvSpPr>
        <p:spPr>
          <a:xfrm>
            <a:off x="4572000" y="5723964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mtClean="0"/>
              <a:t>收集</a:t>
            </a:r>
            <a:endParaRPr lang="en-US" altLang="zh-CN" smtClean="0"/>
          </a:p>
          <a:p>
            <a:r>
              <a:rPr lang="zh-CN" altLang="en-US" smtClean="0"/>
              <a:t>索引</a:t>
            </a:r>
            <a:endParaRPr lang="zh-CN" altLang="en-US"/>
          </a:p>
        </p:txBody>
      </p:sp>
      <p:sp>
        <p:nvSpPr>
          <p:cNvPr id="88" name="TextBox 87"/>
          <p:cNvSpPr txBox="1"/>
          <p:nvPr/>
        </p:nvSpPr>
        <p:spPr>
          <a:xfrm>
            <a:off x="5481409" y="5723964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mtClean="0"/>
              <a:t>存储</a:t>
            </a:r>
            <a:endParaRPr lang="en-US" altLang="zh-CN" smtClean="0"/>
          </a:p>
          <a:p>
            <a:r>
              <a:rPr lang="zh-CN" altLang="en-US" smtClean="0"/>
              <a:t>索引</a:t>
            </a:r>
            <a:endParaRPr lang="zh-CN" altLang="en-US"/>
          </a:p>
        </p:txBody>
      </p:sp>
      <p:sp>
        <p:nvSpPr>
          <p:cNvPr id="90" name="TextBox 89"/>
          <p:cNvSpPr txBox="1"/>
          <p:nvPr/>
        </p:nvSpPr>
        <p:spPr>
          <a:xfrm>
            <a:off x="6390818" y="5723964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mtClean="0"/>
              <a:t>提交</a:t>
            </a:r>
            <a:endParaRPr lang="en-US" altLang="zh-CN" smtClean="0"/>
          </a:p>
          <a:p>
            <a:r>
              <a:rPr lang="zh-CN" altLang="en-US" smtClean="0"/>
              <a:t>参数</a:t>
            </a:r>
            <a:endParaRPr lang="zh-CN" altLang="en-US"/>
          </a:p>
        </p:txBody>
      </p:sp>
      <p:sp>
        <p:nvSpPr>
          <p:cNvPr id="91" name="TextBox 90"/>
          <p:cNvSpPr txBox="1"/>
          <p:nvPr/>
        </p:nvSpPr>
        <p:spPr>
          <a:xfrm>
            <a:off x="7300227" y="5723964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mtClean="0"/>
              <a:t>查询</a:t>
            </a:r>
            <a:endParaRPr lang="en-US" altLang="zh-CN" smtClean="0"/>
          </a:p>
          <a:p>
            <a:r>
              <a:rPr lang="zh-CN" altLang="en-US" smtClean="0"/>
              <a:t>索引</a:t>
            </a:r>
            <a:endParaRPr lang="zh-CN" altLang="en-US"/>
          </a:p>
        </p:txBody>
      </p:sp>
      <p:sp>
        <p:nvSpPr>
          <p:cNvPr id="92" name="TextBox 91"/>
          <p:cNvSpPr txBox="1"/>
          <p:nvPr/>
        </p:nvSpPr>
        <p:spPr>
          <a:xfrm>
            <a:off x="8209637" y="5723964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mtClean="0"/>
              <a:t>返回</a:t>
            </a:r>
            <a:endParaRPr lang="en-US" altLang="zh-CN" smtClean="0"/>
          </a:p>
          <a:p>
            <a:r>
              <a:rPr lang="zh-CN" altLang="en-US" smtClean="0"/>
              <a:t>结果</a:t>
            </a:r>
            <a:endParaRPr lang="zh-CN" altLang="en-US"/>
          </a:p>
        </p:txBody>
      </p:sp>
      <p:sp>
        <p:nvSpPr>
          <p:cNvPr id="93" name="TextBox 92"/>
          <p:cNvSpPr txBox="1"/>
          <p:nvPr/>
        </p:nvSpPr>
        <p:spPr>
          <a:xfrm>
            <a:off x="3491880" y="3070701"/>
            <a:ext cx="5725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mtClean="0"/>
              <a:t>json</a:t>
            </a:r>
          </a:p>
          <a:p>
            <a:r>
              <a:rPr lang="en-US" altLang="zh-CN" smtClean="0"/>
              <a:t>xml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52978" y="-465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smtClean="0">
                <a:latin typeface="隶书" pitchFamily="49" charset="-122"/>
                <a:ea typeface="隶书" pitchFamily="49" charset="-122"/>
              </a:rPr>
              <a:t>收集索引</a:t>
            </a:r>
            <a:endParaRPr lang="zh-CN" altLang="en-US" sz="280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椭圆形标注 5"/>
          <p:cNvSpPr/>
          <p:nvPr/>
        </p:nvSpPr>
        <p:spPr>
          <a:xfrm>
            <a:off x="5004048" y="0"/>
            <a:ext cx="360040" cy="360040"/>
          </a:xfrm>
          <a:prstGeom prst="wedgeEllipseCallout">
            <a:avLst>
              <a:gd name="adj1" fmla="val -34439"/>
              <a:gd name="adj2" fmla="val 89711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1</a:t>
            </a:r>
            <a:endParaRPr lang="zh-CN" altLang="en-US"/>
          </a:p>
        </p:txBody>
      </p:sp>
      <p:sp>
        <p:nvSpPr>
          <p:cNvPr id="8" name="流程图: 磁盘 7"/>
          <p:cNvSpPr/>
          <p:nvPr/>
        </p:nvSpPr>
        <p:spPr>
          <a:xfrm>
            <a:off x="1331640" y="1124744"/>
            <a:ext cx="1440160" cy="792088"/>
          </a:xfrm>
          <a:prstGeom prst="flowChartMagneticDisk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b="1" smtClean="0"/>
              <a:t>其它磁盘</a:t>
            </a:r>
            <a:endParaRPr lang="zh-CN" altLang="en-US" sz="2400" b="1"/>
          </a:p>
        </p:txBody>
      </p:sp>
      <p:grpSp>
        <p:nvGrpSpPr>
          <p:cNvPr id="9" name="组合 8"/>
          <p:cNvGrpSpPr/>
          <p:nvPr/>
        </p:nvGrpSpPr>
        <p:grpSpPr>
          <a:xfrm>
            <a:off x="611560" y="3068960"/>
            <a:ext cx="2376264" cy="1728192"/>
            <a:chOff x="827584" y="2708920"/>
            <a:chExt cx="2376264" cy="1728192"/>
          </a:xfrm>
        </p:grpSpPr>
        <p:sp>
          <p:nvSpPr>
            <p:cNvPr id="10" name="剪去单角的矩形 9"/>
            <p:cNvSpPr/>
            <p:nvPr/>
          </p:nvSpPr>
          <p:spPr>
            <a:xfrm>
              <a:off x="827584" y="2708920"/>
              <a:ext cx="2376264" cy="1728192"/>
            </a:xfrm>
            <a:prstGeom prst="snip1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altLang="zh-CN" smtClean="0"/>
            </a:p>
            <a:p>
              <a:pPr algn="ctr"/>
              <a:r>
                <a:rPr lang="en-US" altLang="zh-CN" smtClean="0"/>
                <a:t>lucene</a:t>
              </a:r>
              <a:r>
                <a:rPr lang="zh-CN" altLang="en-US" smtClean="0"/>
                <a:t>检索系统</a:t>
              </a:r>
              <a:r>
                <a:rPr lang="en-US" altLang="zh-CN" smtClean="0"/>
                <a:t>A</a:t>
              </a:r>
              <a:endParaRPr lang="zh-CN" altLang="en-US" smtClean="0"/>
            </a:p>
          </p:txBody>
        </p:sp>
        <p:sp>
          <p:nvSpPr>
            <p:cNvPr id="11" name="十字形 10"/>
            <p:cNvSpPr/>
            <p:nvPr/>
          </p:nvSpPr>
          <p:spPr>
            <a:xfrm>
              <a:off x="1259632" y="2787622"/>
              <a:ext cx="1440160" cy="720080"/>
            </a:xfrm>
            <a:prstGeom prst="plus">
              <a:avLst>
                <a:gd name="adj" fmla="val 41496"/>
              </a:avLst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mtClean="0">
                  <a:solidFill>
                    <a:schemeClr val="dk1"/>
                  </a:solidFill>
                </a:rPr>
                <a:t>收集</a:t>
              </a:r>
              <a:endParaRPr lang="en-US" altLang="zh-CN" smtClean="0">
                <a:solidFill>
                  <a:schemeClr val="dk1"/>
                </a:solidFill>
              </a:endParaRPr>
            </a:p>
            <a:p>
              <a:pPr algn="ctr"/>
              <a:r>
                <a:rPr lang="zh-CN" altLang="en-US" smtClean="0">
                  <a:solidFill>
                    <a:schemeClr val="dk1"/>
                  </a:solidFill>
                </a:rPr>
                <a:t>信息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3923928" y="980728"/>
            <a:ext cx="40309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mtClean="0"/>
              <a:t>一</a:t>
            </a:r>
            <a:r>
              <a:rPr lang="en-US" altLang="zh-CN" smtClean="0"/>
              <a:t>. </a:t>
            </a:r>
            <a:r>
              <a:rPr lang="zh-CN" altLang="en-US" smtClean="0"/>
              <a:t>我们从</a:t>
            </a:r>
            <a:r>
              <a:rPr lang="en-US" altLang="zh-CN" smtClean="0"/>
              <a:t>D</a:t>
            </a:r>
            <a:r>
              <a:rPr lang="zh-CN" altLang="en-US" smtClean="0"/>
              <a:t>盘的</a:t>
            </a:r>
            <a:r>
              <a:rPr lang="en-US" altLang="zh-CN" smtClean="0"/>
              <a:t>luceneData</a:t>
            </a:r>
            <a:r>
              <a:rPr lang="zh-CN" altLang="en-US" smtClean="0"/>
              <a:t>文件夹下</a:t>
            </a:r>
            <a:endParaRPr lang="en-US" altLang="zh-CN" smtClean="0"/>
          </a:p>
          <a:p>
            <a:r>
              <a:rPr lang="zh-CN" altLang="en-US" smtClean="0"/>
              <a:t>提取各个</a:t>
            </a:r>
            <a:r>
              <a:rPr lang="en-US" altLang="zh-CN" smtClean="0"/>
              <a:t>txt</a:t>
            </a:r>
            <a:r>
              <a:rPr lang="zh-CN" altLang="en-US" smtClean="0"/>
              <a:t>文本</a:t>
            </a:r>
            <a:r>
              <a:rPr lang="en-US" altLang="zh-CN" smtClean="0"/>
              <a:t>.</a:t>
            </a:r>
            <a:endParaRPr lang="en-US" altLang="zh-CN" smtClean="0"/>
          </a:p>
          <a:p>
            <a:endParaRPr lang="en-US" altLang="zh-CN" smtClean="0"/>
          </a:p>
          <a:p>
            <a:r>
              <a:rPr lang="zh-CN" altLang="en-US" smtClean="0"/>
              <a:t>二</a:t>
            </a:r>
            <a:r>
              <a:rPr lang="en-US" altLang="zh-CN" smtClean="0"/>
              <a:t>. “</a:t>
            </a:r>
            <a:r>
              <a:rPr lang="zh-CN" altLang="en-US" smtClean="0"/>
              <a:t>准备</a:t>
            </a:r>
            <a:r>
              <a:rPr lang="en-US" altLang="zh-CN" smtClean="0"/>
              <a:t>”</a:t>
            </a:r>
            <a:r>
              <a:rPr lang="zh-CN" altLang="en-US" smtClean="0"/>
              <a:t>对</a:t>
            </a:r>
            <a:r>
              <a:rPr lang="en-US" altLang="zh-CN" smtClean="0"/>
              <a:t>txt</a:t>
            </a:r>
            <a:r>
              <a:rPr lang="zh-CN" altLang="en-US" smtClean="0"/>
              <a:t>文本中的内容建立索引</a:t>
            </a:r>
            <a:r>
              <a:rPr lang="en-US" altLang="zh-CN" smtClean="0"/>
              <a:t>.</a:t>
            </a:r>
            <a:endParaRPr lang="en-US" altLang="zh-CN" smtClean="0"/>
          </a:p>
        </p:txBody>
      </p:sp>
      <p:cxnSp>
        <p:nvCxnSpPr>
          <p:cNvPr id="14" name="直接箭头连接符 13"/>
          <p:cNvCxnSpPr>
            <a:stCxn id="8" idx="3"/>
            <a:endCxn id="10" idx="3"/>
          </p:cNvCxnSpPr>
          <p:nvPr/>
        </p:nvCxnSpPr>
        <p:spPr>
          <a:xfrm flipH="1">
            <a:off x="1799692" y="1916832"/>
            <a:ext cx="252028" cy="115212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椭圆形标注 14"/>
          <p:cNvSpPr/>
          <p:nvPr/>
        </p:nvSpPr>
        <p:spPr>
          <a:xfrm>
            <a:off x="1907704" y="2420888"/>
            <a:ext cx="360040" cy="360040"/>
          </a:xfrm>
          <a:prstGeom prst="wedgeEllipseCallout">
            <a:avLst>
              <a:gd name="adj1" fmla="val -34439"/>
              <a:gd name="adj2" fmla="val 89711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1</a:t>
            </a:r>
            <a:endParaRPr lang="zh-CN" altLang="en-US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19872" y="2420888"/>
            <a:ext cx="5586599" cy="316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9" name="直接箭头连接符 18"/>
          <p:cNvCxnSpPr/>
          <p:nvPr/>
        </p:nvCxnSpPr>
        <p:spPr>
          <a:xfrm flipH="1" flipV="1">
            <a:off x="2195736" y="2636912"/>
            <a:ext cx="2088232" cy="165618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H="1" flipV="1">
            <a:off x="2267744" y="2708920"/>
            <a:ext cx="2016224" cy="25922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4211960" y="4221088"/>
            <a:ext cx="4392488" cy="288032"/>
          </a:xfrm>
          <a:prstGeom prst="rect">
            <a:avLst/>
          </a:prstGeom>
          <a:solidFill>
            <a:schemeClr val="accent2">
              <a:alpha val="7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4211960" y="5229200"/>
            <a:ext cx="4392488" cy="288032"/>
          </a:xfrm>
          <a:prstGeom prst="rect">
            <a:avLst/>
          </a:prstGeom>
          <a:solidFill>
            <a:schemeClr val="accent2">
              <a:alpha val="7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242153077539335.jpg (860×539)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196752"/>
            <a:ext cx="9144000" cy="5730949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2952978" y="-46548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smtClean="0">
                <a:latin typeface="隶书" pitchFamily="49" charset="-122"/>
                <a:ea typeface="隶书" pitchFamily="49" charset="-122"/>
              </a:rPr>
              <a:t>lucene</a:t>
            </a:r>
            <a:r>
              <a:rPr lang="zh-CN" altLang="en-US" sz="2800" smtClean="0">
                <a:latin typeface="隶书" pitchFamily="49" charset="-122"/>
                <a:ea typeface="隶书" pitchFamily="49" charset="-122"/>
              </a:rPr>
              <a:t>原理</a:t>
            </a:r>
            <a:endParaRPr lang="zh-CN" altLang="en-US" sz="280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椭圆形标注 5"/>
          <p:cNvSpPr/>
          <p:nvPr/>
        </p:nvSpPr>
        <p:spPr>
          <a:xfrm>
            <a:off x="5004048" y="0"/>
            <a:ext cx="360040" cy="360040"/>
          </a:xfrm>
          <a:prstGeom prst="wedgeEllipseCallout">
            <a:avLst>
              <a:gd name="adj1" fmla="val -34439"/>
              <a:gd name="adj2" fmla="val 89711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2</a:t>
            </a:r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813964" y="632882"/>
            <a:ext cx="7354899" cy="707886"/>
          </a:xfrm>
          <a:prstGeom prst="rect">
            <a:avLst/>
          </a:prstGeom>
          <a:solidFill>
            <a:schemeClr val="l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>
              <a:rot lat="0" lon="0" rev="900000"/>
            </a:lightRig>
          </a:scene3d>
          <a:sp3d extrusionH="76200" prstMaterial="powder">
            <a:extrusionClr>
              <a:schemeClr val="bg1"/>
            </a:extrusionClr>
          </a:sp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smtClean="0">
                <a:solidFill>
                  <a:srgbClr val="FF0000"/>
                </a:solidFill>
              </a:rPr>
              <a:t>lucene</a:t>
            </a:r>
            <a:r>
              <a:rPr lang="zh-CN" altLang="en-US" sz="2000" smtClean="0">
                <a:solidFill>
                  <a:srgbClr val="FF0000"/>
                </a:solidFill>
              </a:rPr>
              <a:t>会在内存中建立如下类似于数据库的字段和值</a:t>
            </a:r>
            <a:r>
              <a:rPr lang="en-US" altLang="zh-CN" sz="2000" smtClean="0">
                <a:solidFill>
                  <a:srgbClr val="FF0000"/>
                </a:solidFill>
              </a:rPr>
              <a:t>,</a:t>
            </a:r>
            <a:r>
              <a:rPr lang="zh-CN" altLang="en-US" sz="2000" smtClean="0">
                <a:solidFill>
                  <a:srgbClr val="FF0000"/>
                </a:solidFill>
              </a:rPr>
              <a:t>或者在磁盘</a:t>
            </a:r>
            <a:endParaRPr lang="en-US" altLang="zh-CN" sz="2000" smtClean="0">
              <a:solidFill>
                <a:srgbClr val="FF0000"/>
              </a:solidFill>
            </a:endParaRPr>
          </a:p>
          <a:p>
            <a:r>
              <a:rPr lang="zh-CN" altLang="en-US" sz="2000" smtClean="0">
                <a:solidFill>
                  <a:srgbClr val="FF0000"/>
                </a:solidFill>
              </a:rPr>
              <a:t>生成一系列用于索引的文件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/>
        </p:nvSpPr>
        <p:spPr>
          <a:xfrm>
            <a:off x="755576" y="3068960"/>
            <a:ext cx="323528" cy="28803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268760"/>
            <a:ext cx="8280920" cy="2526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椭圆形标注 2"/>
          <p:cNvSpPr/>
          <p:nvPr/>
        </p:nvSpPr>
        <p:spPr>
          <a:xfrm>
            <a:off x="5220072" y="0"/>
            <a:ext cx="360040" cy="360040"/>
          </a:xfrm>
          <a:prstGeom prst="wedgeEllipseCallout">
            <a:avLst>
              <a:gd name="adj1" fmla="val -34439"/>
              <a:gd name="adj2" fmla="val 89711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3</a:t>
            </a:r>
            <a:endParaRPr lang="zh-CN" altLang="en-US"/>
          </a:p>
        </p:txBody>
      </p:sp>
      <p:sp>
        <p:nvSpPr>
          <p:cNvPr id="4" name="椭圆形标注 3"/>
          <p:cNvSpPr/>
          <p:nvPr/>
        </p:nvSpPr>
        <p:spPr>
          <a:xfrm>
            <a:off x="5724128" y="0"/>
            <a:ext cx="360040" cy="360040"/>
          </a:xfrm>
          <a:prstGeom prst="wedgeEllipseCallout">
            <a:avLst>
              <a:gd name="adj1" fmla="val -34439"/>
              <a:gd name="adj2" fmla="val 89711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4</a:t>
            </a:r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952978" y="-465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smtClean="0">
                <a:latin typeface="隶书" pitchFamily="49" charset="-122"/>
                <a:ea typeface="隶书" pitchFamily="49" charset="-122"/>
              </a:rPr>
              <a:t>查找</a:t>
            </a:r>
            <a:r>
              <a:rPr lang="zh-CN" altLang="en-US" sz="2800" smtClean="0">
                <a:latin typeface="隶书" pitchFamily="49" charset="-122"/>
                <a:ea typeface="隶书" pitchFamily="49" charset="-122"/>
              </a:rPr>
              <a:t>索引</a:t>
            </a:r>
            <a:endParaRPr lang="zh-CN" altLang="en-US" sz="280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3964" y="632882"/>
            <a:ext cx="7354899" cy="400110"/>
          </a:xfrm>
          <a:prstGeom prst="rect">
            <a:avLst/>
          </a:prstGeom>
          <a:solidFill>
            <a:schemeClr val="l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>
              <a:rot lat="0" lon="0" rev="900000"/>
            </a:lightRig>
          </a:scene3d>
          <a:sp3d extrusionH="76200" prstMaterial="powder">
            <a:extrusionClr>
              <a:schemeClr val="bg1"/>
            </a:extrusionClr>
          </a:sp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smtClean="0">
                <a:solidFill>
                  <a:srgbClr val="FF0000"/>
                </a:solidFill>
              </a:rPr>
              <a:t>查询提供参数为</a:t>
            </a:r>
            <a:r>
              <a:rPr lang="en-US" altLang="zh-CN" sz="2000" smtClean="0">
                <a:solidFill>
                  <a:srgbClr val="FF0000"/>
                </a:solidFill>
              </a:rPr>
              <a:t>: Shanhai</a:t>
            </a:r>
            <a:endParaRPr lang="zh-CN" altLang="en-US" sz="2000" smtClean="0">
              <a:solidFill>
                <a:srgbClr val="FF0000"/>
              </a:solidFill>
            </a:endParaRPr>
          </a:p>
        </p:txBody>
      </p:sp>
      <p:cxnSp>
        <p:nvCxnSpPr>
          <p:cNvPr id="12" name="曲线连接符 11"/>
          <p:cNvCxnSpPr>
            <a:stCxn id="6" idx="2"/>
            <a:endCxn id="10" idx="4"/>
          </p:cNvCxnSpPr>
          <p:nvPr/>
        </p:nvCxnSpPr>
        <p:spPr>
          <a:xfrm rot="5400000">
            <a:off x="1542377" y="407955"/>
            <a:ext cx="2324000" cy="3574074"/>
          </a:xfrm>
          <a:prstGeom prst="curvedConnector3">
            <a:avLst>
              <a:gd name="adj1" fmla="val 192743"/>
            </a:avLst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789101" y="4293096"/>
            <a:ext cx="5807235" cy="707886"/>
          </a:xfrm>
          <a:prstGeom prst="rect">
            <a:avLst/>
          </a:prstGeom>
          <a:solidFill>
            <a:schemeClr val="l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>
              <a:rot lat="0" lon="0" rev="900000"/>
            </a:lightRig>
          </a:scene3d>
          <a:sp3d extrusionH="76200" prstMaterial="powder">
            <a:extrusionClr>
              <a:schemeClr val="bg1"/>
            </a:extrusionClr>
          </a:sp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smtClean="0">
                <a:solidFill>
                  <a:srgbClr val="FF0000"/>
                </a:solidFill>
              </a:rPr>
              <a:t>1.</a:t>
            </a:r>
            <a:r>
              <a:rPr lang="zh-CN" altLang="en-US" sz="2000" smtClean="0">
                <a:solidFill>
                  <a:srgbClr val="FF0000"/>
                </a:solidFill>
              </a:rPr>
              <a:t>在关键词字段找到</a:t>
            </a:r>
            <a:r>
              <a:rPr lang="en-US" altLang="zh-CN" sz="2000" smtClean="0">
                <a:solidFill>
                  <a:srgbClr val="FF0000"/>
                </a:solidFill>
              </a:rPr>
              <a:t>Shanhai</a:t>
            </a:r>
          </a:p>
          <a:p>
            <a:r>
              <a:rPr lang="en-US" altLang="zh-CN" sz="2000" smtClean="0">
                <a:solidFill>
                  <a:srgbClr val="FF0000"/>
                </a:solidFill>
              </a:rPr>
              <a:t>2. </a:t>
            </a:r>
            <a:r>
              <a:rPr lang="zh-CN" altLang="en-US" sz="2000" smtClean="0">
                <a:solidFill>
                  <a:srgbClr val="FF0000"/>
                </a:solidFill>
              </a:rPr>
              <a:t>发现文章</a:t>
            </a:r>
            <a:r>
              <a:rPr lang="en-US" altLang="zh-CN" sz="2000" smtClean="0">
                <a:solidFill>
                  <a:srgbClr val="FF0000"/>
                </a:solidFill>
              </a:rPr>
              <a:t>2</a:t>
            </a:r>
            <a:r>
              <a:rPr lang="zh-CN" altLang="en-US" sz="2000" smtClean="0">
                <a:solidFill>
                  <a:srgbClr val="FF0000"/>
                </a:solidFill>
              </a:rPr>
              <a:t>中一共出现一次</a:t>
            </a:r>
            <a:r>
              <a:rPr lang="en-US" altLang="zh-CN" sz="2000" smtClean="0">
                <a:solidFill>
                  <a:srgbClr val="FF0000"/>
                </a:solidFill>
              </a:rPr>
              <a:t>,</a:t>
            </a:r>
            <a:r>
              <a:rPr lang="zh-CN" altLang="en-US" sz="2000" smtClean="0">
                <a:solidFill>
                  <a:srgbClr val="FF0000"/>
                </a:solidFill>
              </a:rPr>
              <a:t>存在于</a:t>
            </a:r>
            <a:r>
              <a:rPr lang="en-US" altLang="zh-CN" sz="2000" smtClean="0">
                <a:solidFill>
                  <a:srgbClr val="FF0000"/>
                </a:solidFill>
              </a:rPr>
              <a:t>3</a:t>
            </a:r>
            <a:r>
              <a:rPr lang="zh-CN" altLang="en-US" sz="2000" smtClean="0">
                <a:solidFill>
                  <a:srgbClr val="FF0000"/>
                </a:solidFill>
              </a:rPr>
              <a:t>个</a:t>
            </a:r>
            <a:r>
              <a:rPr lang="zh-CN" altLang="en-US" sz="2000" smtClean="0">
                <a:solidFill>
                  <a:srgbClr val="FF0000"/>
                </a:solidFill>
              </a:rPr>
              <a:t>索引</a:t>
            </a:r>
            <a:r>
              <a:rPr lang="zh-CN" altLang="en-US" sz="2000" smtClean="0">
                <a:solidFill>
                  <a:srgbClr val="FF0000"/>
                </a:solidFill>
              </a:rPr>
              <a:t>位置</a:t>
            </a:r>
            <a:endParaRPr lang="zh-CN" altLang="en-US" sz="200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磁盘 1"/>
          <p:cNvSpPr/>
          <p:nvPr/>
        </p:nvSpPr>
        <p:spPr>
          <a:xfrm>
            <a:off x="827584" y="4941168"/>
            <a:ext cx="1944216" cy="1368152"/>
          </a:xfrm>
          <a:prstGeom prst="flowChartMagneticDisk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b="1" smtClean="0"/>
              <a:t>磁盘</a:t>
            </a:r>
            <a:endParaRPr lang="zh-CN" altLang="en-US" sz="2400" b="1"/>
          </a:p>
        </p:txBody>
      </p:sp>
      <p:cxnSp>
        <p:nvCxnSpPr>
          <p:cNvPr id="4" name="直接连接符 3"/>
          <p:cNvCxnSpPr/>
          <p:nvPr/>
        </p:nvCxnSpPr>
        <p:spPr>
          <a:xfrm>
            <a:off x="3923928" y="692696"/>
            <a:ext cx="0" cy="5256584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sp>
        <p:nvSpPr>
          <p:cNvPr id="9" name="剪去单角的矩形 8"/>
          <p:cNvSpPr/>
          <p:nvPr/>
        </p:nvSpPr>
        <p:spPr>
          <a:xfrm>
            <a:off x="4499992" y="1124744"/>
            <a:ext cx="4320480" cy="3456384"/>
          </a:xfrm>
          <a:prstGeom prst="snip1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zh-CN" altLang="en-US" smtClean="0"/>
              <a:t>外围查询界面</a:t>
            </a:r>
            <a:r>
              <a:rPr lang="en-US" altLang="zh-CN" smtClean="0"/>
              <a:t>B</a:t>
            </a:r>
            <a:endParaRPr lang="zh-CN" altLang="en-US"/>
          </a:p>
        </p:txBody>
      </p:sp>
      <p:cxnSp>
        <p:nvCxnSpPr>
          <p:cNvPr id="27" name="直接箭头连接符 26"/>
          <p:cNvCxnSpPr/>
          <p:nvPr/>
        </p:nvCxnSpPr>
        <p:spPr>
          <a:xfrm flipH="1">
            <a:off x="2339752" y="4077072"/>
            <a:ext cx="72008" cy="936104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" name="组合 44"/>
          <p:cNvGrpSpPr/>
          <p:nvPr/>
        </p:nvGrpSpPr>
        <p:grpSpPr>
          <a:xfrm>
            <a:off x="683568" y="2348880"/>
            <a:ext cx="2376264" cy="1728192"/>
            <a:chOff x="827584" y="2708920"/>
            <a:chExt cx="2376264" cy="1728192"/>
          </a:xfrm>
        </p:grpSpPr>
        <p:sp>
          <p:nvSpPr>
            <p:cNvPr id="10" name="剪去单角的矩形 9"/>
            <p:cNvSpPr/>
            <p:nvPr/>
          </p:nvSpPr>
          <p:spPr>
            <a:xfrm>
              <a:off x="827584" y="2708920"/>
              <a:ext cx="2376264" cy="1728192"/>
            </a:xfrm>
            <a:prstGeom prst="snip1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altLang="zh-CN" smtClean="0"/>
            </a:p>
            <a:p>
              <a:pPr algn="ctr"/>
              <a:r>
                <a:rPr lang="en-US" altLang="zh-CN" smtClean="0"/>
                <a:t>lucene</a:t>
              </a:r>
              <a:r>
                <a:rPr lang="zh-CN" altLang="en-US" smtClean="0"/>
                <a:t>检索系统</a:t>
              </a:r>
              <a:r>
                <a:rPr lang="en-US" altLang="zh-CN" smtClean="0"/>
                <a:t>A</a:t>
              </a:r>
              <a:endParaRPr lang="zh-CN" altLang="en-US" smtClean="0"/>
            </a:p>
          </p:txBody>
        </p:sp>
        <p:sp>
          <p:nvSpPr>
            <p:cNvPr id="44" name="十字形 43"/>
            <p:cNvSpPr/>
            <p:nvPr/>
          </p:nvSpPr>
          <p:spPr>
            <a:xfrm>
              <a:off x="1259632" y="2787622"/>
              <a:ext cx="1440160" cy="720080"/>
            </a:xfrm>
            <a:prstGeom prst="plus">
              <a:avLst>
                <a:gd name="adj" fmla="val 41496"/>
              </a:avLst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mtClean="0">
                  <a:solidFill>
                    <a:schemeClr val="dk1"/>
                  </a:solidFill>
                </a:rPr>
                <a:t>收集</a:t>
              </a:r>
              <a:endParaRPr lang="en-US" altLang="zh-CN" smtClean="0">
                <a:solidFill>
                  <a:schemeClr val="dk1"/>
                </a:solidFill>
              </a:endParaRPr>
            </a:p>
            <a:p>
              <a:pPr algn="ctr"/>
              <a:r>
                <a:rPr lang="zh-CN" altLang="en-US" smtClean="0">
                  <a:solidFill>
                    <a:schemeClr val="dk1"/>
                  </a:solidFill>
                </a:rPr>
                <a:t>信息</a:t>
              </a:r>
            </a:p>
          </p:txBody>
        </p:sp>
      </p:grpSp>
      <p:sp>
        <p:nvSpPr>
          <p:cNvPr id="57" name="矩形 56"/>
          <p:cNvSpPr/>
          <p:nvPr/>
        </p:nvSpPr>
        <p:spPr>
          <a:xfrm>
            <a:off x="4860032" y="2132856"/>
            <a:ext cx="3816424" cy="216024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9" name="表格 58"/>
          <p:cNvGraphicFramePr>
            <a:graphicFrameLocks noGrp="1"/>
          </p:cNvGraphicFramePr>
          <p:nvPr/>
        </p:nvGraphicFramePr>
        <p:xfrm>
          <a:off x="5076056" y="2985512"/>
          <a:ext cx="338437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4376"/>
              </a:tblGrid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mtClean="0"/>
                        <a:t>内容</a:t>
                      </a:r>
                      <a:endParaRPr lang="zh-CN" altLang="en-US"/>
                    </a:p>
                  </a:txBody>
                  <a:tcPr/>
                </a:tc>
              </a:tr>
              <a:tr h="360040">
                <a:tc>
                  <a:txBody>
                    <a:bodyPr/>
                    <a:lstStyle/>
                    <a:p>
                      <a:r>
                        <a:rPr lang="en-US" altLang="zh-CN" smtClean="0"/>
                        <a:t>He once lived in Shanhai.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8" name="直接箭头连接符 67"/>
          <p:cNvCxnSpPr/>
          <p:nvPr/>
        </p:nvCxnSpPr>
        <p:spPr>
          <a:xfrm>
            <a:off x="3059832" y="3212976"/>
            <a:ext cx="208823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椭圆形标注 75"/>
          <p:cNvSpPr/>
          <p:nvPr/>
        </p:nvSpPr>
        <p:spPr>
          <a:xfrm>
            <a:off x="2483768" y="4149080"/>
            <a:ext cx="360040" cy="360040"/>
          </a:xfrm>
          <a:prstGeom prst="wedgeEllipseCallout">
            <a:avLst>
              <a:gd name="adj1" fmla="val -34439"/>
              <a:gd name="adj2" fmla="val 89711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4</a:t>
            </a:r>
            <a:endParaRPr lang="zh-CN" altLang="en-US"/>
          </a:p>
        </p:txBody>
      </p:sp>
      <p:sp>
        <p:nvSpPr>
          <p:cNvPr id="77" name="椭圆形标注 76"/>
          <p:cNvSpPr/>
          <p:nvPr/>
        </p:nvSpPr>
        <p:spPr>
          <a:xfrm>
            <a:off x="3995936" y="2852936"/>
            <a:ext cx="360040" cy="360040"/>
          </a:xfrm>
          <a:prstGeom prst="wedgeEllipseCallout">
            <a:avLst>
              <a:gd name="adj1" fmla="val -34439"/>
              <a:gd name="adj2" fmla="val 89711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5</a:t>
            </a:r>
            <a:endParaRPr lang="zh-CN" altLang="en-US"/>
          </a:p>
        </p:txBody>
      </p:sp>
      <p:sp>
        <p:nvSpPr>
          <p:cNvPr id="93" name="TextBox 92"/>
          <p:cNvSpPr txBox="1"/>
          <p:nvPr/>
        </p:nvSpPr>
        <p:spPr>
          <a:xfrm>
            <a:off x="3419872" y="2926685"/>
            <a:ext cx="5725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mtClean="0"/>
              <a:t>json</a:t>
            </a:r>
          </a:p>
          <a:p>
            <a:r>
              <a:rPr lang="en-US" altLang="zh-CN" smtClean="0"/>
              <a:t>xml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11961" y="4869160"/>
            <a:ext cx="4680520" cy="707886"/>
          </a:xfrm>
          <a:prstGeom prst="rect">
            <a:avLst/>
          </a:prstGeom>
          <a:solidFill>
            <a:schemeClr val="l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>
              <a:rot lat="0" lon="0" rev="900000"/>
            </a:lightRig>
          </a:scene3d>
          <a:sp3d extrusionH="76200" prstMaterial="powder">
            <a:extrusionClr>
              <a:schemeClr val="bg1"/>
            </a:extrusionClr>
          </a:sp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smtClean="0">
                <a:solidFill>
                  <a:srgbClr val="FF0000"/>
                </a:solidFill>
              </a:rPr>
              <a:t>1.</a:t>
            </a:r>
            <a:r>
              <a:rPr lang="zh-CN" altLang="en-US" sz="2000" smtClean="0">
                <a:solidFill>
                  <a:srgbClr val="FF0000"/>
                </a:solidFill>
              </a:rPr>
              <a:t>把文章</a:t>
            </a:r>
            <a:r>
              <a:rPr lang="en-US" altLang="zh-CN" sz="2000" smtClean="0">
                <a:solidFill>
                  <a:srgbClr val="FF0000"/>
                </a:solidFill>
              </a:rPr>
              <a:t>2</a:t>
            </a:r>
            <a:r>
              <a:rPr lang="zh-CN" altLang="en-US" sz="2000" smtClean="0">
                <a:solidFill>
                  <a:srgbClr val="FF0000"/>
                </a:solidFill>
              </a:rPr>
              <a:t>的文本内容提取出来</a:t>
            </a:r>
            <a:endParaRPr lang="en-US" altLang="zh-CN" sz="2000" smtClean="0">
              <a:solidFill>
                <a:srgbClr val="FF0000"/>
              </a:solidFill>
            </a:endParaRPr>
          </a:p>
          <a:p>
            <a:r>
              <a:rPr lang="en-US" altLang="zh-CN" sz="2000" smtClean="0">
                <a:solidFill>
                  <a:srgbClr val="FF0000"/>
                </a:solidFill>
              </a:rPr>
              <a:t>2.</a:t>
            </a:r>
            <a:r>
              <a:rPr lang="zh-CN" altLang="en-US" sz="2000" smtClean="0">
                <a:solidFill>
                  <a:srgbClr val="FF0000"/>
                </a:solidFill>
              </a:rPr>
              <a:t>转换成</a:t>
            </a:r>
            <a:r>
              <a:rPr lang="en-US" altLang="zh-CN" sz="2000" smtClean="0">
                <a:solidFill>
                  <a:srgbClr val="FF0000"/>
                </a:solidFill>
              </a:rPr>
              <a:t>json</a:t>
            </a:r>
            <a:r>
              <a:rPr lang="zh-CN" altLang="en-US" sz="2000" smtClean="0">
                <a:solidFill>
                  <a:srgbClr val="FF0000"/>
                </a:solidFill>
              </a:rPr>
              <a:t>或</a:t>
            </a:r>
            <a:r>
              <a:rPr lang="en-US" altLang="zh-CN" sz="2000" smtClean="0">
                <a:solidFill>
                  <a:srgbClr val="FF0000"/>
                </a:solidFill>
              </a:rPr>
              <a:t>xml</a:t>
            </a:r>
            <a:r>
              <a:rPr lang="zh-CN" altLang="en-US" sz="2000" smtClean="0">
                <a:solidFill>
                  <a:srgbClr val="FF0000"/>
                </a:solidFill>
              </a:rPr>
              <a:t>格式后返回前台展示</a:t>
            </a:r>
            <a:endParaRPr lang="zh-CN" altLang="en-US" sz="2000" smtClean="0">
              <a:solidFill>
                <a:srgbClr val="FF0000"/>
              </a:solidFill>
            </a:endParaRPr>
          </a:p>
        </p:txBody>
      </p:sp>
      <p:sp>
        <p:nvSpPr>
          <p:cNvPr id="40" name="椭圆形标注 39"/>
          <p:cNvSpPr/>
          <p:nvPr/>
        </p:nvSpPr>
        <p:spPr>
          <a:xfrm>
            <a:off x="5724128" y="0"/>
            <a:ext cx="360040" cy="360040"/>
          </a:xfrm>
          <a:prstGeom prst="wedgeEllipseCallout">
            <a:avLst>
              <a:gd name="adj1" fmla="val -34439"/>
              <a:gd name="adj2" fmla="val 89711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5</a:t>
            </a:r>
            <a:endParaRPr lang="zh-CN" altLang="en-US"/>
          </a:p>
        </p:txBody>
      </p:sp>
      <p:sp>
        <p:nvSpPr>
          <p:cNvPr id="41" name="椭圆形标注 40"/>
          <p:cNvSpPr/>
          <p:nvPr/>
        </p:nvSpPr>
        <p:spPr>
          <a:xfrm>
            <a:off x="5220072" y="0"/>
            <a:ext cx="360040" cy="360040"/>
          </a:xfrm>
          <a:prstGeom prst="wedgeEllipseCallout">
            <a:avLst>
              <a:gd name="adj1" fmla="val -34439"/>
              <a:gd name="adj2" fmla="val 89711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4</a:t>
            </a:r>
            <a:endParaRPr lang="zh-CN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2952978" y="-4654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smtClean="0">
                <a:latin typeface="隶书" pitchFamily="49" charset="-122"/>
                <a:ea typeface="隶书" pitchFamily="49" charset="-122"/>
              </a:rPr>
              <a:t>查找</a:t>
            </a:r>
            <a:r>
              <a:rPr lang="zh-CN" altLang="en-US" sz="2800" smtClean="0">
                <a:latin typeface="隶书" pitchFamily="49" charset="-122"/>
                <a:ea typeface="隶书" pitchFamily="49" charset="-122"/>
              </a:rPr>
              <a:t>索引</a:t>
            </a:r>
            <a:endParaRPr lang="zh-CN" altLang="en-US" sz="2800">
              <a:latin typeface="隶书" pitchFamily="49" charset="-122"/>
              <a:ea typeface="隶书" pitchFamily="49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/>
          <p:cNvSpPr txBox="1"/>
          <p:nvPr/>
        </p:nvSpPr>
        <p:spPr>
          <a:xfrm>
            <a:off x="2952978" y="-4654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smtClean="0">
                <a:latin typeface="隶书" pitchFamily="49" charset="-122"/>
                <a:ea typeface="隶书" pitchFamily="49" charset="-122"/>
              </a:rPr>
              <a:t>参考</a:t>
            </a:r>
            <a:endParaRPr lang="zh-CN" altLang="en-US" sz="280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39552" y="1916832"/>
            <a:ext cx="818249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smtClean="0"/>
              <a:t>主要参考网页</a:t>
            </a:r>
            <a:r>
              <a:rPr lang="en-US" altLang="zh-CN" sz="3600" smtClean="0"/>
              <a:t>:</a:t>
            </a:r>
          </a:p>
          <a:p>
            <a:r>
              <a:rPr lang="en-US" altLang="zh-CN" sz="2800" smtClean="0"/>
              <a:t>http://www.cnblogs.com/xing901022/p/3933675.html</a:t>
            </a:r>
            <a:endParaRPr lang="zh-CN" altLang="en-US" sz="2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/>
          <p:cNvSpPr txBox="1"/>
          <p:nvPr/>
        </p:nvSpPr>
        <p:spPr>
          <a:xfrm>
            <a:off x="2952978" y="-4654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smtClean="0">
                <a:latin typeface="隶书" pitchFamily="49" charset="-122"/>
                <a:ea typeface="隶书" pitchFamily="49" charset="-122"/>
              </a:rPr>
              <a:t>项目</a:t>
            </a:r>
            <a:endParaRPr lang="zh-CN" altLang="en-US" sz="2800"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196752"/>
            <a:ext cx="7096125" cy="540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TextBox 20"/>
          <p:cNvSpPr txBox="1"/>
          <p:nvPr/>
        </p:nvSpPr>
        <p:spPr>
          <a:xfrm>
            <a:off x="539552" y="908720"/>
            <a:ext cx="7354899" cy="707886"/>
          </a:xfrm>
          <a:prstGeom prst="rect">
            <a:avLst/>
          </a:prstGeom>
          <a:solidFill>
            <a:schemeClr val="l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>
              <a:rot lat="0" lon="0" rev="900000"/>
            </a:lightRig>
          </a:scene3d>
          <a:sp3d extrusionH="76200" prstMaterial="powder">
            <a:extrusionClr>
              <a:schemeClr val="bg1"/>
            </a:extrusionClr>
          </a:sp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smtClean="0">
                <a:solidFill>
                  <a:srgbClr val="FF0000"/>
                </a:solidFill>
              </a:rPr>
              <a:t>本项目</a:t>
            </a:r>
            <a:r>
              <a:rPr lang="zh-CN" altLang="en-US" sz="2000" smtClean="0">
                <a:solidFill>
                  <a:srgbClr val="FF0000"/>
                </a:solidFill>
              </a:rPr>
              <a:t>只有一个</a:t>
            </a:r>
            <a:r>
              <a:rPr lang="en-US" altLang="zh-CN" sz="2000" smtClean="0">
                <a:solidFill>
                  <a:srgbClr val="FF0000"/>
                </a:solidFill>
              </a:rPr>
              <a:t>IndexManager.java</a:t>
            </a:r>
            <a:r>
              <a:rPr lang="zh-CN" altLang="en-US" sz="2000" smtClean="0">
                <a:solidFill>
                  <a:srgbClr val="FF0000"/>
                </a:solidFill>
              </a:rPr>
              <a:t>文件</a:t>
            </a:r>
            <a:r>
              <a:rPr lang="en-US" altLang="zh-CN" sz="2000" smtClean="0">
                <a:solidFill>
                  <a:srgbClr val="FF0000"/>
                </a:solidFill>
              </a:rPr>
              <a:t>.</a:t>
            </a:r>
            <a:endParaRPr lang="en-US" altLang="zh-CN" sz="2000" smtClean="0">
              <a:solidFill>
                <a:srgbClr val="FF0000"/>
              </a:solidFill>
            </a:endParaRPr>
          </a:p>
          <a:p>
            <a:r>
              <a:rPr lang="zh-CN" altLang="en-US" sz="2000" smtClean="0">
                <a:solidFill>
                  <a:srgbClr val="FF0000"/>
                </a:solidFill>
              </a:rPr>
              <a:t>在你的</a:t>
            </a:r>
            <a:r>
              <a:rPr lang="en-US" altLang="zh-CN" sz="2000" smtClean="0">
                <a:solidFill>
                  <a:srgbClr val="FF0000"/>
                </a:solidFill>
              </a:rPr>
              <a:t>d</a:t>
            </a:r>
            <a:r>
              <a:rPr lang="zh-CN" altLang="en-US" sz="2000" smtClean="0">
                <a:solidFill>
                  <a:srgbClr val="FF0000"/>
                </a:solidFill>
              </a:rPr>
              <a:t>盘按按第</a:t>
            </a:r>
            <a:r>
              <a:rPr lang="en-US" altLang="zh-CN" sz="2000" smtClean="0">
                <a:solidFill>
                  <a:srgbClr val="FF0000"/>
                </a:solidFill>
              </a:rPr>
              <a:t>5</a:t>
            </a:r>
            <a:r>
              <a:rPr lang="zh-CN" altLang="en-US" sz="2000" smtClean="0">
                <a:solidFill>
                  <a:srgbClr val="FF0000"/>
                </a:solidFill>
              </a:rPr>
              <a:t>页建好对应文件后</a:t>
            </a:r>
            <a:r>
              <a:rPr lang="en-US" altLang="zh-CN" sz="2000" smtClean="0">
                <a:solidFill>
                  <a:srgbClr val="FF0000"/>
                </a:solidFill>
              </a:rPr>
              <a:t>.</a:t>
            </a:r>
            <a:r>
              <a:rPr lang="zh-CN" altLang="en-US" sz="2000" smtClean="0">
                <a:solidFill>
                  <a:srgbClr val="FF0000"/>
                </a:solidFill>
              </a:rPr>
              <a:t>直接运行</a:t>
            </a:r>
            <a:r>
              <a:rPr lang="en-US" altLang="zh-CN" sz="2000" smtClean="0">
                <a:solidFill>
                  <a:srgbClr val="FF0000"/>
                </a:solidFill>
              </a:rPr>
              <a:t>main</a:t>
            </a:r>
            <a:r>
              <a:rPr lang="zh-CN" altLang="en-US" sz="2000" smtClean="0">
                <a:solidFill>
                  <a:srgbClr val="FF0000"/>
                </a:solidFill>
              </a:rPr>
              <a:t>即</a:t>
            </a:r>
            <a:r>
              <a:rPr lang="zh-CN" altLang="en-US" sz="2000" smtClean="0">
                <a:solidFill>
                  <a:srgbClr val="FF0000"/>
                </a:solidFill>
              </a:rPr>
              <a:t>可</a:t>
            </a:r>
            <a:endParaRPr lang="en-US" altLang="zh-CN" sz="200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499</Words>
  <Application>Microsoft Office PowerPoint</Application>
  <PresentationFormat>全屏显示(4:3)</PresentationFormat>
  <Paragraphs>111</Paragraphs>
  <Slides>10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1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cp:lastModifiedBy>King</cp:lastModifiedBy>
  <cp:revision>60</cp:revision>
  <dcterms:modified xsi:type="dcterms:W3CDTF">2015-11-20T10:45:37Z</dcterms:modified>
</cp:coreProperties>
</file>